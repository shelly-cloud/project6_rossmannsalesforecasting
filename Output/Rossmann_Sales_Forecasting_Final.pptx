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B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28600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8FB6EA"/>
                </a:solidFill>
                <a:latin typeface="Calibri"/>
              </a:rPr>
              <a:t>NEXTHIKES IT SOLUTIONS  |  ROSSMANN PHARMACEUTICALS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743200"/>
            <a:ext cx="103327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1">
                <a:solidFill>
                  <a:srgbClr val="FFFFFF"/>
                </a:solidFill>
                <a:latin typeface="Calibri"/>
              </a:rPr>
              <a:t>Rossmann Sales Forecasting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65760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>
                <a:solidFill>
                  <a:srgbClr val="C9D3E6"/>
                </a:solidFill>
                <a:latin typeface="Calibri"/>
              </a:rPr>
              <a:t>End-to-end EDA, ML/DL modeling, and a serving dashboard for a six-week store-sales forecast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03504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8FB6EA"/>
                </a:solidFill>
                <a:latin typeface="Calibri"/>
              </a:rPr>
              <a:t>Task 1: Exploratory Data Analysis   |   Task 2: Machine Learning &amp; Deep Learning   |   Task 3: Web Serving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2A78D6"/>
                </a:solidFill>
                <a:latin typeface="Calibri"/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21792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0B0B0B"/>
                </a:solidFill>
                <a:latin typeface="Calibri"/>
              </a:rPr>
              <a:t>What this deck covers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51560"/>
            <a:ext cx="1005840" cy="50800"/>
          </a:xfrm>
          <a:prstGeom prst="rect">
            <a:avLst/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417320"/>
            <a:ext cx="822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2A78D6"/>
                </a:solidFill>
                <a:latin typeface="Calibri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1417320"/>
            <a:ext cx="3840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0B0B0B"/>
                </a:solidFill>
                <a:latin typeface="Calibri"/>
              </a:rPr>
              <a:t>The business problem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1801368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5A5A5A"/>
                </a:solidFill>
                <a:latin typeface="Calibri"/>
              </a:rPr>
              <a:t>Why 1,115 stores forecasting sales by hand doesn't scale, and the two data traps that shape everything downstream.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350008"/>
            <a:ext cx="822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2A78D6"/>
                </a:solidFill>
                <a:latin typeface="Calibri"/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0" y="2350008"/>
            <a:ext cx="3840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0B0B0B"/>
                </a:solidFill>
                <a:latin typeface="Calibri"/>
              </a:rPr>
              <a:t>Task 1 — What the data says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3040" y="2734056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5A5A5A"/>
                </a:solidFill>
                <a:latin typeface="Calibri"/>
              </a:rPr>
              <a:t>Three findings from 14 EDA questions that changed the model's design.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282696"/>
            <a:ext cx="822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2A78D6"/>
                </a:solidFill>
                <a:latin typeface="Calibri"/>
              </a:rP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63040" y="3282696"/>
            <a:ext cx="3840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0B0B0B"/>
                </a:solidFill>
                <a:latin typeface="Calibri"/>
              </a:rPr>
              <a:t>Task 2 — Building the models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63040" y="3666744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5A5A5A"/>
                </a:solidFill>
                <a:latin typeface="Calibri"/>
              </a:rPr>
              <a:t>Pipeline architecture, RMSPE, Random Forest vs LightGBM, and an LSTM forecaster.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215384"/>
            <a:ext cx="822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2A78D6"/>
                </a:solidFill>
                <a:latin typeface="Calibri"/>
              </a:rPr>
              <a:t>04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3040" y="4215384"/>
            <a:ext cx="3840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0B0B0B"/>
                </a:solidFill>
                <a:latin typeface="Calibri"/>
              </a:rPr>
              <a:t>Task 3 — Serving it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63040" y="4599432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5A5A5A"/>
                </a:solidFill>
                <a:latin typeface="Calibri"/>
              </a:rPr>
              <a:t>A Flask dashboard a finance analyst can use directly.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148072"/>
            <a:ext cx="822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2A78D6"/>
                </a:solidFill>
                <a:latin typeface="Calibri"/>
              </a:rPr>
              <a:t>05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63040" y="5148072"/>
            <a:ext cx="3840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0B0B0B"/>
                </a:solidFill>
                <a:latin typeface="Calibri"/>
              </a:rPr>
              <a:t>Recommendations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63040" y="553212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5A5A5A"/>
                </a:solidFill>
                <a:latin typeface="Calibri"/>
              </a:rPr>
              <a:t>What the finance team should do with this, model and non-model.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A5A5A"/>
                </a:solidFill>
                <a:latin typeface="Calibri"/>
              </a:rPr>
              <a:t>Rossmann Sales Forecasting  |  NextHikes IT Solutions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338560" y="6510528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5A5A5A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2A78D6"/>
                </a:solidFill>
                <a:latin typeface="Calibri"/>
              </a:rPr>
              <a:t>CONTEXT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21792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0B0B0B"/>
                </a:solidFill>
                <a:latin typeface="Calibri"/>
              </a:rPr>
              <a:t>The business problem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51560"/>
            <a:ext cx="1005840" cy="50800"/>
          </a:xfrm>
          <a:prstGeom prst="rect">
            <a:avLst/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417320"/>
            <a:ext cx="60350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1500">
                <a:solidFill>
                  <a:srgbClr val="0B0B0B"/>
                </a:solidFill>
                <a:latin typeface="Calibri"/>
              </a:rPr>
              <a:t>•  Rossmann Pharmaceuticals runs 1,115 drug stores across Germany; sales forecasting today means asking each store manager to guess.</a:t>
            </a:r>
          </a:p>
          <a:p>
            <a:pPr>
              <a:spcAft>
                <a:spcPts val="1600"/>
              </a:spcAft>
            </a:pPr>
            <a:r>
              <a:rPr sz="1500">
                <a:solidFill>
                  <a:srgbClr val="0B0B0B"/>
                </a:solidFill>
                <a:latin typeface="Calibri"/>
              </a:rPr>
              <a:t>•  That doesn't scale, isn't auditable, and ignores the interacting effects of promotions, competition, holidays and seasonality.</a:t>
            </a:r>
          </a:p>
          <a:p>
            <a:pPr>
              <a:spcAft>
                <a:spcPts val="1600"/>
              </a:spcAft>
            </a:pPr>
            <a:r>
              <a:rPr sz="1500">
                <a:solidFill>
                  <a:srgbClr val="0B0B0B"/>
                </a:solidFill>
                <a:latin typeface="Calibri"/>
              </a:rPr>
              <a:t>•  Goal: an end-to-end pipeline that cleans 2.5 years of daily history, engineers predictive features, compares tree-based and deep-learning models, and serves the result through a dashboard — no notebook required.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040880" y="1463040"/>
            <a:ext cx="1920240" cy="1188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1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600" b="1">
                <a:solidFill>
                  <a:srgbClr val="2A78D6"/>
                </a:solidFill>
                <a:latin typeface="Calibri"/>
              </a:rPr>
              <a:t>1,115</a:t>
            </a:r>
          </a:p>
          <a:p>
            <a:pPr algn="ctr"/>
            <a:r>
              <a:rPr sz="1100">
                <a:solidFill>
                  <a:srgbClr val="5A5A5A"/>
                </a:solidFill>
                <a:latin typeface="Calibri"/>
              </a:rPr>
              <a:t>stores across Germany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098280" y="1463040"/>
            <a:ext cx="1920240" cy="1188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1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600" b="1">
                <a:solidFill>
                  <a:srgbClr val="2A78D6"/>
                </a:solidFill>
                <a:latin typeface="Calibri"/>
              </a:rPr>
              <a:t>2.5 yrs</a:t>
            </a:r>
          </a:p>
          <a:p>
            <a:pPr algn="ctr"/>
            <a:r>
              <a:rPr sz="1100">
                <a:solidFill>
                  <a:srgbClr val="5A5A5A"/>
                </a:solidFill>
                <a:latin typeface="Calibri"/>
              </a:rPr>
              <a:t>of daily sales history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040880" y="2788920"/>
            <a:ext cx="1920240" cy="1188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1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600" b="1">
                <a:solidFill>
                  <a:srgbClr val="2A78D6"/>
                </a:solidFill>
                <a:latin typeface="Calibri"/>
              </a:rPr>
              <a:t>1.02M</a:t>
            </a:r>
          </a:p>
          <a:p>
            <a:pPr algn="ctr"/>
            <a:r>
              <a:rPr sz="1100">
                <a:solidFill>
                  <a:srgbClr val="5A5A5A"/>
                </a:solidFill>
                <a:latin typeface="Calibri"/>
              </a:rPr>
              <a:t>daily records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098280" y="2788920"/>
            <a:ext cx="1920240" cy="1188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1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600" b="1">
                <a:solidFill>
                  <a:srgbClr val="2A78D6"/>
                </a:solidFill>
                <a:latin typeface="Calibri"/>
              </a:rPr>
              <a:t>48 days</a:t>
            </a:r>
          </a:p>
          <a:p>
            <a:pPr algn="ctr"/>
            <a:r>
              <a:rPr sz="1100">
                <a:solidFill>
                  <a:srgbClr val="5A5A5A"/>
                </a:solidFill>
                <a:latin typeface="Calibri"/>
              </a:rPr>
              <a:t>forecast horizon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40880" y="4251960"/>
            <a:ext cx="40233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5A5A5A"/>
                </a:solidFill>
                <a:latin typeface="Calibri"/>
              </a:rPr>
              <a:t>Two data traps shaped the pipeline:</a:t>
            </a:r>
          </a:p>
          <a:p>
            <a:pPr algn="l">
              <a:lnSpc>
                <a:spcPct val="100000"/>
              </a:lnSpc>
            </a:pPr>
          </a:p>
          <a:p>
            <a:pPr algn="l">
              <a:lnSpc>
                <a:spcPct val="100000"/>
              </a:lnSpc>
            </a:pPr>
            <a:r>
              <a:rPr sz="1250" b="0">
                <a:solidFill>
                  <a:srgbClr val="5A5A5A"/>
                </a:solidFill>
                <a:latin typeface="Calibri"/>
              </a:rPr>
              <a:t>• Customers (r = 0.82 with Sales) doesn't exist at forecast time — using it leaks the answer.</a:t>
            </a:r>
          </a:p>
          <a:p>
            <a:pPr algn="l">
              <a:lnSpc>
                <a:spcPct val="100000"/>
              </a:lnSpc>
            </a:pPr>
            <a:r>
              <a:rPr sz="1250" b="0">
                <a:solidFill>
                  <a:srgbClr val="5A5A5A"/>
                </a:solidFill>
                <a:latin typeface="Calibri"/>
              </a:rPr>
              <a:t>• Open = 0 always means Sales = 0 — a business rule, not a pattern to learn.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A5A5A"/>
                </a:solidFill>
                <a:latin typeface="Calibri"/>
              </a:rPr>
              <a:t>Rossmann Sales Forecasting  |  NextHikes IT Solutions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510528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5A5A5A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EB6834"/>
                </a:solidFill>
                <a:latin typeface="Calibri"/>
              </a:rPr>
              <a:t>TASK 1 · FINDING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21792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0B0B0B"/>
                </a:solidFill>
                <a:latin typeface="Calibri"/>
              </a:rPr>
              <a:t>Store identity dominates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51560"/>
            <a:ext cx="1005840" cy="50800"/>
          </a:xfrm>
          <a:prstGeom prst="rect">
            <a:avLst/>
          </a:prstGeom>
          <a:solidFill>
            <a:srgbClr val="EB68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q12_store_vari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371600"/>
            <a:ext cx="6035040" cy="208163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858000" y="1463040"/>
            <a:ext cx="48463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400">
                <a:solidFill>
                  <a:srgbClr val="0B0B0B"/>
                </a:solidFill>
                <a:latin typeface="Calibri"/>
              </a:rPr>
              <a:t>•  60% of total sales variance sits between stores, not within a store's own day-to-day swings.</a:t>
            </a:r>
          </a:p>
          <a:p>
            <a:pPr>
              <a:spcAft>
                <a:spcPts val="1400"/>
              </a:spcAft>
            </a:pPr>
            <a:r>
              <a:rPr sz="1400">
                <a:solidFill>
                  <a:srgbClr val="0B0B0B"/>
                </a:solidFill>
                <a:latin typeface="Calibri"/>
              </a:rPr>
              <a:t>•  Store size varies sixfold across the estate.</a:t>
            </a:r>
          </a:p>
          <a:p>
            <a:pPr>
              <a:spcAft>
                <a:spcPts val="1400"/>
              </a:spcAft>
            </a:pPr>
            <a:r>
              <a:rPr b="1" sz="1400">
                <a:solidFill>
                  <a:srgbClr val="2A78D6"/>
                </a:solidFill>
                <a:latin typeface="Calibri"/>
              </a:rPr>
              <a:t>Decision 1:  </a:t>
            </a:r>
            <a:r>
              <a:rPr sz="1400">
                <a:solidFill>
                  <a:srgbClr val="0B0B0B"/>
                </a:solidFill>
                <a:latin typeface="Calibri"/>
              </a:rPr>
              <a:t>per-store historical aggregates (mean/median sales, weekday &amp; month baselines) became the highest-value feature family.</a:t>
            </a:r>
          </a:p>
          <a:p>
            <a:pPr>
              <a:spcAft>
                <a:spcPts val="1400"/>
              </a:spcAft>
            </a:pPr>
            <a:r>
              <a:rPr b="1" sz="1400">
                <a:solidFill>
                  <a:srgbClr val="2A78D6"/>
                </a:solidFill>
                <a:latin typeface="Calibri"/>
              </a:rPr>
              <a:t>Decision 2:  </a:t>
            </a:r>
            <a:r>
              <a:rPr sz="1400">
                <a:solidFill>
                  <a:srgbClr val="0B0B0B"/>
                </a:solidFill>
                <a:latin typeface="Calibri"/>
              </a:rPr>
              <a:t>RMSPE — a relative, scale-invariant metric — was chosen over RMSE so large stores don't dominate the loss and small stores don't get ignored.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A5A5A"/>
                </a:solidFill>
                <a:latin typeface="Calibri"/>
              </a:rPr>
              <a:t>Rossmann Sales Forecasting  |  NextHikes IT Solutions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38560" y="6510528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5A5A5A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EB6834"/>
                </a:solidFill>
                <a:latin typeface="Calibri"/>
              </a:rPr>
              <a:t>TASK 1 · FINDING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21792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0B0B0B"/>
                </a:solidFill>
                <a:latin typeface="Calibri"/>
              </a:rPr>
              <a:t>Promos work through both channels, roughly equally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51560"/>
            <a:ext cx="1005840" cy="50800"/>
          </a:xfrm>
          <a:prstGeom prst="rect">
            <a:avLst/>
          </a:prstGeom>
          <a:solidFill>
            <a:srgbClr val="EB68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q6_promo_target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371600"/>
            <a:ext cx="6035040" cy="174243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858000" y="1463040"/>
            <a:ext cx="48463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</a:pPr>
            <a:r>
              <a:rPr sz="1400">
                <a:solidFill>
                  <a:srgbClr val="0B0B0B"/>
                </a:solidFill>
                <a:latin typeface="Calibri"/>
              </a:rPr>
              <a:t>•  Weekday promo days deliver a 38.8% sales lift.</a:t>
            </a:r>
          </a:p>
          <a:p>
            <a:pPr>
              <a:spcAft>
                <a:spcPts val="1300"/>
              </a:spcAft>
            </a:pPr>
            <a:r>
              <a:rPr sz="1400">
                <a:solidFill>
                  <a:srgbClr val="0B0B0B"/>
                </a:solidFill>
                <a:latin typeface="Calibri"/>
              </a:rPr>
              <a:t>•  That splits into a 19.8% footfall increase and a 15.3% basket-size increase — genuinely more customers and bigger baskets.</a:t>
            </a:r>
          </a:p>
          <a:p>
            <a:pPr>
              <a:spcAft>
                <a:spcPts val="1300"/>
              </a:spcAft>
            </a:pPr>
            <a:r>
              <a:rPr sz="1400">
                <a:solidFill>
                  <a:srgbClr val="0B0B0B"/>
                </a:solidFill>
                <a:latin typeface="Calibri"/>
              </a:rPr>
              <a:t>•  But response is wildly uneven: the top quartile of stores captures 38% of incremental promo revenue; the bottom quartile just 14%.</a:t>
            </a:r>
          </a:p>
          <a:p>
            <a:pPr>
              <a:spcAft>
                <a:spcPts val="1300"/>
              </a:spcAft>
            </a:pPr>
            <a:r>
              <a:rPr b="1" sz="1400">
                <a:solidFill>
                  <a:srgbClr val="2A78D6"/>
                </a:solidFill>
                <a:latin typeface="Calibri"/>
              </a:rPr>
              <a:t>Actionable now:  </a:t>
            </a:r>
            <a:r>
              <a:rPr sz="1400">
                <a:solidFill>
                  <a:srgbClr val="0B0B0B"/>
                </a:solidFill>
                <a:latin typeface="Calibri"/>
              </a:rPr>
              <a:t>retarget promo spend toward the stores that actually respond — no model required.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A5A5A"/>
                </a:solidFill>
                <a:latin typeface="Calibri"/>
              </a:rPr>
              <a:t>Rossmann Sales Forecasting  |  NextHikes IT Solutions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38560" y="6510528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5A5A5A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EB6834"/>
                </a:solidFill>
                <a:latin typeface="Calibri"/>
              </a:rPr>
              <a:t>TASK 1 · FINDING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21792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0B0B0B"/>
                </a:solidFill>
                <a:latin typeface="Calibri"/>
              </a:rPr>
              <a:t>Competitor distance measures urbanity, not competition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51560"/>
            <a:ext cx="1005840" cy="50800"/>
          </a:xfrm>
          <a:prstGeom prst="rect">
            <a:avLst/>
          </a:prstGeom>
          <a:solidFill>
            <a:srgbClr val="EB68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q10_competition_dist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371600"/>
            <a:ext cx="6035040" cy="174591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858000" y="1463040"/>
            <a:ext cx="48463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</a:pPr>
            <a:r>
              <a:rPr sz="1400">
                <a:solidFill>
                  <a:srgbClr val="0B0B0B"/>
                </a:solidFill>
                <a:latin typeface="Calibri"/>
              </a:rPr>
              <a:t>•  Counter-intuitively, stores with a competitor within 250m sell more than stores with no nearby competitor at all.</a:t>
            </a:r>
          </a:p>
          <a:p>
            <a:pPr>
              <a:spcAft>
                <a:spcPts val="1300"/>
              </a:spcAft>
            </a:pPr>
            <a:r>
              <a:rPr sz="1400">
                <a:solidFill>
                  <a:srgbClr val="0B0B0B"/>
                </a:solidFill>
                <a:latin typeface="Calibri"/>
              </a:rPr>
              <a:t>•  Resolution: competitors cluster where customers are — distance is mostly a proxy for how central a location is.</a:t>
            </a:r>
          </a:p>
          <a:p>
            <a:pPr>
              <a:spcAft>
                <a:spcPts val="1300"/>
              </a:spcAft>
            </a:pPr>
            <a:r>
              <a:rPr sz="1400">
                <a:solidFill>
                  <a:srgbClr val="0B0B0B"/>
                </a:solidFill>
                <a:latin typeface="Calibri"/>
              </a:rPr>
              <a:t>•  Splitting on a 500m city-centre proxy collapses the correlation to near zero within each locality type.</a:t>
            </a:r>
          </a:p>
          <a:p>
            <a:pPr>
              <a:spcAft>
                <a:spcPts val="1300"/>
              </a:spcAft>
            </a:pPr>
            <a:r>
              <a:rPr b="1" sz="1400">
                <a:solidFill>
                  <a:srgbClr val="2A78D6"/>
                </a:solidFill>
                <a:latin typeface="Calibri"/>
              </a:rPr>
              <a:t>Kept as:  </a:t>
            </a:r>
            <a:r>
              <a:rPr sz="1400">
                <a:solidFill>
                  <a:srgbClr val="0B0B0B"/>
                </a:solidFill>
                <a:latin typeface="Calibri"/>
              </a:rPr>
              <a:t>a log-transformed feature plus an explicit city-centre flag, so the model separates the two readings.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A5A5A"/>
                </a:solidFill>
                <a:latin typeface="Calibri"/>
              </a:rPr>
              <a:t>Rossmann Sales Forecasting  |  NextHikes IT Solutions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38560" y="6510528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5A5A5A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2A78D6"/>
                </a:solidFill>
                <a:latin typeface="Calibri"/>
              </a:rPr>
              <a:t>TASK 2 ·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21792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0B0B0B"/>
                </a:solidFill>
                <a:latin typeface="Calibri"/>
              </a:rPr>
              <a:t>One pipeline, trained and served identically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51560"/>
            <a:ext cx="1005840" cy="50800"/>
          </a:xfrm>
          <a:prstGeom prst="rect">
            <a:avLst/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1828800"/>
            <a:ext cx="1600200" cy="1005840"/>
          </a:xfrm>
          <a:prstGeom prst="round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Raw CSVs</a:t>
            </a:r>
          </a:p>
        </p:txBody>
      </p:sp>
      <p:sp>
        <p:nvSpPr>
          <p:cNvPr id="6" name="Right Arrow 5"/>
          <p:cNvSpPr/>
          <p:nvPr/>
        </p:nvSpPr>
        <p:spPr>
          <a:xfrm>
            <a:off x="2148840" y="2194560"/>
            <a:ext cx="256032" cy="274320"/>
          </a:xfrm>
          <a:prstGeom prst="rightArrow">
            <a:avLst/>
          </a:prstGeom>
          <a:solidFill>
            <a:srgbClr val="5A5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2404872" y="1828800"/>
            <a:ext cx="1600200" cy="1005840"/>
          </a:xfrm>
          <a:prstGeom prst="round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Cleaning</a:t>
            </a:r>
          </a:p>
        </p:txBody>
      </p:sp>
      <p:sp>
        <p:nvSpPr>
          <p:cNvPr id="8" name="Right Arrow 7"/>
          <p:cNvSpPr/>
          <p:nvPr/>
        </p:nvSpPr>
        <p:spPr>
          <a:xfrm>
            <a:off x="4005072" y="2194560"/>
            <a:ext cx="256032" cy="274320"/>
          </a:xfrm>
          <a:prstGeom prst="rightArrow">
            <a:avLst/>
          </a:prstGeom>
          <a:solidFill>
            <a:srgbClr val="5A5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261104" y="1828800"/>
            <a:ext cx="1600200" cy="1005840"/>
          </a:xfrm>
          <a:prstGeom prst="round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Feature
Engineering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5861304" y="2194560"/>
            <a:ext cx="256032" cy="274320"/>
          </a:xfrm>
          <a:prstGeom prst="rightArrow">
            <a:avLst/>
          </a:prstGeom>
          <a:solidFill>
            <a:srgbClr val="5A5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117336" y="1828800"/>
            <a:ext cx="1600200" cy="1005840"/>
          </a:xfrm>
          <a:prstGeom prst="round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Scaling /
Encoding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7717536" y="2194560"/>
            <a:ext cx="256032" cy="274320"/>
          </a:xfrm>
          <a:prstGeom prst="rightArrow">
            <a:avLst/>
          </a:prstGeom>
          <a:solidFill>
            <a:srgbClr val="5A5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973568" y="1828800"/>
            <a:ext cx="1600200" cy="1005840"/>
          </a:xfrm>
          <a:prstGeom prst="round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Model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9573768" y="2194560"/>
            <a:ext cx="256032" cy="274320"/>
          </a:xfrm>
          <a:prstGeom prst="rightArrow">
            <a:avLst/>
          </a:prstGeom>
          <a:solidFill>
            <a:srgbClr val="5A5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9829800" y="1828800"/>
            <a:ext cx="1600200" cy="1005840"/>
          </a:xfrm>
          <a:prstGeom prst="round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Prediction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3246120"/>
            <a:ext cx="107899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</a:pPr>
            <a:r>
              <a:rPr sz="1400">
                <a:solidFill>
                  <a:srgbClr val="0B0B0B"/>
                </a:solidFill>
                <a:latin typeface="Calibri"/>
              </a:rPr>
              <a:t>•  The whole chain is one sklearn.pipeline.Pipeline (src/pipeline.py) — the exact code that trains the model is the code that serves it in production. No duplicated preprocessing between training and the Flask app.</a:t>
            </a:r>
          </a:p>
          <a:p>
            <a:pPr>
              <a:spcAft>
                <a:spcPts val="1300"/>
              </a:spcAft>
            </a:pPr>
            <a:r>
              <a:rPr sz="1400">
                <a:solidFill>
                  <a:srgbClr val="0B0B0B"/>
                </a:solidFill>
                <a:latin typeface="Calibri"/>
              </a:rPr>
              <a:t>•  Features beyond the brief's calendar asks: cyclical sin/cos day encodings, a decoded IsPromo2Active flag (parsed from strings like "Feb,May,Aug,Nov"), months-since-competitor-opened, and per-store historical aggregates.</a:t>
            </a:r>
          </a:p>
          <a:p>
            <a:pPr>
              <a:spcAft>
                <a:spcPts val="1300"/>
              </a:spcAft>
            </a:pPr>
            <a:r>
              <a:rPr b="1" sz="1400">
                <a:solidFill>
                  <a:srgbClr val="2A78D6"/>
                </a:solidFill>
                <a:latin typeface="Calibri"/>
              </a:rPr>
              <a:t>Validation:  </a:t>
            </a:r>
            <a:r>
              <a:rPr sz="1400">
                <a:solidFill>
                  <a:srgbClr val="0B0B0B"/>
                </a:solidFill>
                <a:latin typeface="Calibri"/>
              </a:rPr>
              <a:t>the final 6 weeks of the training window (804,056 train / 40,282 valid rows) — not a random split, matching the brief's real forecast horizon and avoiding leakage.</a:t>
            </a:r>
          </a:p>
          <a:p>
            <a:pPr>
              <a:spcAft>
                <a:spcPts val="1300"/>
              </a:spcAft>
            </a:pPr>
            <a:r>
              <a:rPr b="1" sz="1400">
                <a:solidFill>
                  <a:srgbClr val="2A78D6"/>
                </a:solidFill>
                <a:latin typeface="Calibri"/>
              </a:rPr>
              <a:t>Loss function:  </a:t>
            </a:r>
            <a:r>
              <a:rPr sz="1400">
                <a:solidFill>
                  <a:srgbClr val="0B0B0B"/>
                </a:solidFill>
                <a:latin typeface="Calibri"/>
              </a:rPr>
              <a:t>RMSPE (Root Mean Square Percentage Error) — a 10% miss on a corner store counts as seriously as a 10% miss on the flagship, and it's directly interpretable to a non-technical stakeholder.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A5A5A"/>
                </a:solidFill>
                <a:latin typeface="Calibri"/>
              </a:rPr>
              <a:t>Rossmann Sales Forecasting  |  NextHikes IT Solutions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510528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5A5A5A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2A78D6"/>
                </a:solidFill>
                <a:latin typeface="Calibri"/>
              </a:rPr>
              <a:t>TASK 2 ·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21792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0B0B0B"/>
                </a:solidFill>
                <a:latin typeface="Calibri"/>
              </a:rPr>
              <a:t>Random Forest vs. LightGBM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51560"/>
            <a:ext cx="1005840" cy="50800"/>
          </a:xfrm>
          <a:prstGeom prst="rect">
            <a:avLst/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463040"/>
          <a:ext cx="10195560" cy="1508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83280"/>
                <a:gridCol w="1051560"/>
                <a:gridCol w="1051560"/>
                <a:gridCol w="914400"/>
                <a:gridCol w="960120"/>
                <a:gridCol w="822960"/>
                <a:gridCol w="1005840"/>
                <a:gridCol w="1005840"/>
              </a:tblGrid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Model</a:t>
                      </a:r>
                    </a:p>
                  </a:txBody>
                  <a:tcPr anchor="ctr" marL="73152" marR="73152">
                    <a:solidFill>
                      <a:srgbClr val="2A78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RMSPE</a:t>
                      </a:r>
                    </a:p>
                  </a:txBody>
                  <a:tcPr anchor="ctr" marL="73152" marR="73152">
                    <a:solidFill>
                      <a:srgbClr val="2A78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RMSE</a:t>
                      </a:r>
                    </a:p>
                  </a:txBody>
                  <a:tcPr anchor="ctr" marL="73152" marR="73152">
                    <a:solidFill>
                      <a:srgbClr val="2A78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MAE</a:t>
                      </a:r>
                    </a:p>
                  </a:txBody>
                  <a:tcPr anchor="ctr" marL="73152" marR="73152">
                    <a:solidFill>
                      <a:srgbClr val="2A78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MAPE</a:t>
                      </a:r>
                    </a:p>
                  </a:txBody>
                  <a:tcPr anchor="ctr" marL="73152" marR="73152">
                    <a:solidFill>
                      <a:srgbClr val="2A78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R²</a:t>
                      </a:r>
                    </a:p>
                  </a:txBody>
                  <a:tcPr anchor="ctr" marL="73152" marR="73152">
                    <a:solidFill>
                      <a:srgbClr val="2A78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Fit time</a:t>
                      </a:r>
                    </a:p>
                  </a:txBody>
                  <a:tcPr anchor="ctr" marL="73152" marR="73152">
                    <a:solidFill>
                      <a:srgbClr val="2A78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Size</a:t>
                      </a:r>
                    </a:p>
                  </a:txBody>
                  <a:tcPr anchor="ctr" marL="73152" marR="73152">
                    <a:solidFill>
                      <a:srgbClr val="2A78D6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0B0B0B"/>
                          </a:solidFill>
                          <a:latin typeface="Calibri"/>
                        </a:rPr>
                        <a:t>Random Forest (150 trees, depth 14)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0B0B0B"/>
                          </a:solidFill>
                          <a:latin typeface="Calibri"/>
                        </a:rPr>
                        <a:t>0.1395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0B0B0B"/>
                          </a:solidFill>
                          <a:latin typeface="Calibri"/>
                        </a:rPr>
                        <a:t>1,060.7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0B0B0B"/>
                          </a:solidFill>
                          <a:latin typeface="Calibri"/>
                        </a:rPr>
                        <a:t>721.8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0B0B0B"/>
                          </a:solidFill>
                          <a:latin typeface="Calibri"/>
                        </a:rPr>
                        <a:t>10.41%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0B0B0B"/>
                          </a:solidFill>
                          <a:latin typeface="Calibri"/>
                        </a:rPr>
                        <a:t>0.879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0B0B0B"/>
                          </a:solidFill>
                          <a:latin typeface="Calibri"/>
                        </a:rPr>
                        <a:t>180 s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0B0B0B"/>
                          </a:solidFill>
                          <a:latin typeface="Calibri"/>
                        </a:rPr>
                        <a:t>89.7 MB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0B0B0B"/>
                          </a:solidFill>
                          <a:latin typeface="Calibri"/>
                        </a:rPr>
                        <a:t>LightGBM (600 trees, 63 leaves)</a:t>
                      </a:r>
                    </a:p>
                  </a:txBody>
                  <a:tcPr anchor="ctr" marL="73152" marR="73152">
                    <a:solidFill>
                      <a:srgbClr val="EAF2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0B0B0B"/>
                          </a:solidFill>
                          <a:latin typeface="Calibri"/>
                        </a:rPr>
                        <a:t>0.1294</a:t>
                      </a:r>
                    </a:p>
                  </a:txBody>
                  <a:tcPr anchor="ctr" marL="73152" marR="73152">
                    <a:solidFill>
                      <a:srgbClr val="EAF2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0B0B0B"/>
                          </a:solidFill>
                          <a:latin typeface="Calibri"/>
                        </a:rPr>
                        <a:t>929.7</a:t>
                      </a:r>
                    </a:p>
                  </a:txBody>
                  <a:tcPr anchor="ctr" marL="73152" marR="73152">
                    <a:solidFill>
                      <a:srgbClr val="EAF2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0B0B0B"/>
                          </a:solidFill>
                          <a:latin typeface="Calibri"/>
                        </a:rPr>
                        <a:t>635.8</a:t>
                      </a:r>
                    </a:p>
                  </a:txBody>
                  <a:tcPr anchor="ctr" marL="73152" marR="73152">
                    <a:solidFill>
                      <a:srgbClr val="EAF2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0B0B0B"/>
                          </a:solidFill>
                          <a:latin typeface="Calibri"/>
                        </a:rPr>
                        <a:t>9.45%</a:t>
                      </a:r>
                    </a:p>
                  </a:txBody>
                  <a:tcPr anchor="ctr" marL="73152" marR="73152">
                    <a:solidFill>
                      <a:srgbClr val="EAF2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0B0B0B"/>
                          </a:solidFill>
                          <a:latin typeface="Calibri"/>
                        </a:rPr>
                        <a:t>0.907</a:t>
                      </a:r>
                    </a:p>
                  </a:txBody>
                  <a:tcPr anchor="ctr" marL="73152" marR="73152">
                    <a:solidFill>
                      <a:srgbClr val="EAF2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0B0B0B"/>
                          </a:solidFill>
                          <a:latin typeface="Calibri"/>
                        </a:rPr>
                        <a:t>106 s</a:t>
                      </a:r>
                    </a:p>
                  </a:txBody>
                  <a:tcPr anchor="ctr" marL="73152" marR="73152">
                    <a:solidFill>
                      <a:srgbClr val="EAF2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0B0B0B"/>
                          </a:solidFill>
                          <a:latin typeface="Calibri"/>
                        </a:rPr>
                        <a:t>4.3 MB</a:t>
                      </a:r>
                    </a:p>
                  </a:txBody>
                  <a:tcPr anchor="ctr" marL="73152" marR="73152">
                    <a:solidFill>
                      <a:srgbClr val="EAF2FC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306324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CA30C"/>
                </a:solidFill>
                <a:latin typeface="Calibri"/>
              </a:rPr>
              <a:t>LightGBM wins on every metric — lower error, faster to train, ~20x smaller on disk — and is the default model the Flask app serves.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611880"/>
            <a:ext cx="107899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b="1" sz="1350">
                <a:solidFill>
                  <a:srgbClr val="2A78D6"/>
                </a:solidFill>
                <a:latin typeface="Calibri"/>
              </a:rPr>
              <a:t>Engineering lesson:  </a:t>
            </a:r>
            <a:r>
              <a:rPr sz="1350">
                <a:solidFill>
                  <a:srgbClr val="0B0B0B"/>
                </a:solidFill>
                <a:latin typeface="Calibri"/>
              </a:rPr>
              <a:t>the first Random Forest config (min_samples_leaf=2, no depth cap) trained to RMSPE 0.1314 but serialized to a 3.08 GB pickle — unfit to ship. Capping min_samples_leaf=25 / max_depth=14 cost 0.008 RMSPE and bought a 34x smaller, 3.4x faster model.</a:t>
            </a:r>
          </a:p>
          <a:p>
            <a:pPr>
              <a:spcAft>
                <a:spcPts val="1000"/>
              </a:spcAft>
            </a:pPr>
            <a:r>
              <a:rPr b="1" sz="1350">
                <a:solidFill>
                  <a:srgbClr val="2A78D6"/>
                </a:solidFill>
                <a:latin typeface="Calibri"/>
              </a:rPr>
              <a:t>Confidence intervals:  </a:t>
            </a:r>
            <a:r>
              <a:rPr sz="1350">
                <a:solidFill>
                  <a:srgbClr val="0B0B0B"/>
                </a:solidFill>
                <a:latin typeface="Calibri"/>
              </a:rPr>
              <a:t>Random Forest's 150 trees give per-row prediction spread for free. Empirical 95%-interval coverage measured at 78.1% — under-covering as expected; useful for ranking which forecasts to trust least, not a calibrated bound.</a:t>
            </a:r>
          </a:p>
          <a:p>
            <a:pPr>
              <a:spcAft>
                <a:spcPts val="1000"/>
              </a:spcAft>
            </a:pPr>
            <a:r>
              <a:rPr b="1" sz="1350">
                <a:solidFill>
                  <a:srgbClr val="2A78D6"/>
                </a:solidFill>
                <a:latin typeface="Calibri"/>
              </a:rPr>
              <a:t>Feature importance:  </a:t>
            </a:r>
            <a:r>
              <a:rPr sz="1350">
                <a:solidFill>
                  <a:srgbClr val="0B0B0B"/>
                </a:solidFill>
                <a:latin typeface="Calibri"/>
              </a:rPr>
              <a:t>computed via permutation importance (unbiased vs. high-cardinality features) — confirms Store, Promo, Date and CompetitionDistance as top drivers, matching Task 1's findings independently.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A5A5A"/>
                </a:solidFill>
                <a:latin typeface="Calibri"/>
              </a:rPr>
              <a:t>Rossmann Sales Forecasting  |  NextHikes IT Solutions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0" y="6510528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5A5A5A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2A78D6"/>
                </a:solidFill>
                <a:latin typeface="Calibri"/>
              </a:rPr>
              <a:t>TASK 2 ·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21792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0B0B0B"/>
                </a:solidFill>
                <a:latin typeface="Calibri"/>
              </a:rPr>
              <a:t>What drives the forecast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51560"/>
            <a:ext cx="1005840" cy="50800"/>
          </a:xfrm>
          <a:prstGeom prst="rect">
            <a:avLst/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feature_importance_lightgb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371600"/>
            <a:ext cx="5486400" cy="4100899"/>
          </a:xfrm>
          <a:prstGeom prst="rect">
            <a:avLst/>
          </a:prstGeom>
        </p:spPr>
      </p:pic>
      <p:pic>
        <p:nvPicPr>
          <p:cNvPr id="6" name="Picture 5" descr="feature_importance_random_fores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1371600"/>
            <a:ext cx="5486400" cy="410089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626364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5A5A5A"/>
                </a:solidFill>
                <a:latin typeface="Calibri"/>
              </a:rPr>
              <a:t>Both models independently confirm Task 1's store-identity and calendar dominance finding.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A5A5A"/>
                </a:solidFill>
                <a:latin typeface="Calibri"/>
              </a:rPr>
              <a:t>Rossmann Sales Forecasting  |  NextHikes IT Solutions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0" y="6510528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5A5A5A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1BAF7A"/>
                </a:solidFill>
                <a:latin typeface="Calibri"/>
              </a:rPr>
              <a:t>TASK 2.6 · DEEP LEARNING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21792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0B0B0B"/>
                </a:solidFill>
                <a:latin typeface="Calibri"/>
              </a:rPr>
              <a:t>An LSTM forecaster, built the brief's way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51560"/>
            <a:ext cx="1005840" cy="50800"/>
          </a:xfrm>
          <a:prstGeom prst="rect">
            <a:avLst/>
          </a:prstGeom>
          <a:solidFill>
            <a:srgbClr val="1BA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stm_stationarity_acf_pac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371600"/>
            <a:ext cx="5760720" cy="158658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583680" y="1417320"/>
            <a:ext cx="512064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0B0B0B"/>
                </a:solidFill>
                <a:latin typeface="Calibri"/>
              </a:rPr>
              <a:t>•  Seven-step process: isolate series → ADF stationarity test → difference if needed → ACF/PACF → sliding windows → scale (-1,1) → train.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0B0B0B"/>
                </a:solidFill>
                <a:latin typeface="Calibri"/>
              </a:rPr>
              <a:t>•  National series tested stationary (ADF stat -4.76, p = 6.4×10⁻⁵) — no differencing needed.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0B0B0B"/>
                </a:solidFill>
                <a:latin typeface="Calibri"/>
              </a:rPr>
              <a:t>•  ACF/PACF show sharp spikes at lags 7/14/21 → 14-day lookback window (two full weekly cycles).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0B0B0B"/>
                </a:solidFill>
                <a:latin typeface="Calibri"/>
              </a:rPr>
              <a:t>•  83,954 sequences built per-store (120 stores), each with its own MinMaxScaler so no store dominates the loss.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0B0B0B"/>
                </a:solidFill>
                <a:latin typeface="Calibri"/>
              </a:rPr>
              <a:t>•  18,433-parameter network (LSTM 50 → LSTM 25 → Dense), 72 KB, trained in 338s on CPU.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5074920"/>
          <a:ext cx="8961120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40480"/>
                <a:gridCol w="1371600"/>
                <a:gridCol w="1371600"/>
                <a:gridCol w="1280160"/>
                <a:gridCol w="1097280"/>
              </a:tblGrid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Model</a:t>
                      </a:r>
                    </a:p>
                  </a:txBody>
                  <a:tcPr anchor="ctr" marL="73152" marR="73152">
                    <a:solidFill>
                      <a:srgbClr val="2A78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RMSPE</a:t>
                      </a:r>
                    </a:p>
                  </a:txBody>
                  <a:tcPr anchor="ctr" marL="73152" marR="73152">
                    <a:solidFill>
                      <a:srgbClr val="2A78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RMSE</a:t>
                      </a:r>
                    </a:p>
                  </a:txBody>
                  <a:tcPr anchor="ctr" marL="73152" marR="73152">
                    <a:solidFill>
                      <a:srgbClr val="2A78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MAE</a:t>
                      </a:r>
                    </a:p>
                  </a:txBody>
                  <a:tcPr anchor="ctr" marL="73152" marR="73152">
                    <a:solidFill>
                      <a:srgbClr val="2A78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R²</a:t>
                      </a:r>
                    </a:p>
                  </a:txBody>
                  <a:tcPr anchor="ctr" marL="73152" marR="73152">
                    <a:solidFill>
                      <a:srgbClr val="2A78D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0B0B0B"/>
                          </a:solidFill>
                          <a:latin typeface="Calibri"/>
                        </a:rPr>
                        <a:t>LSTM (14-day window, 120 stores)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0B0B0B"/>
                          </a:solidFill>
                          <a:latin typeface="Calibri"/>
                        </a:rPr>
                        <a:t>0.1606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0B0B0B"/>
                          </a:solidFill>
                          <a:latin typeface="Calibri"/>
                        </a:rPr>
                        <a:t>1,092.8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0B0B0B"/>
                          </a:solidFill>
                          <a:latin typeface="Calibri"/>
                        </a:rPr>
                        <a:t>766.3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0B0B0B"/>
                          </a:solidFill>
                          <a:latin typeface="Calibri"/>
                        </a:rPr>
                        <a:t>0.886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8321040" y="5120640"/>
            <a:ext cx="33832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5A5A5A"/>
                </a:solidFill>
                <a:latin typeface="Calibri"/>
              </a:rPr>
              <a:t>Behind both tree models — the LSTM is univariate (past sales only, no store identity). R² = 0.886 is still a solid result from sales history alone.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A5A5A"/>
                </a:solidFill>
                <a:latin typeface="Calibri"/>
              </a:rPr>
              <a:t>Rossmann Sales Forecasting  |  NextHikes IT Solutions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510528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5A5A5A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2A78D6"/>
                </a:solidFill>
                <a:latin typeface="Calibri"/>
              </a:rPr>
              <a:t>TASK 2.7 · MLOPS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21792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0B0B0B"/>
                </a:solidFill>
                <a:latin typeface="Calibri"/>
              </a:rPr>
              <a:t>Tracked, versioned, reproducible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51560"/>
            <a:ext cx="1005840" cy="50800"/>
          </a:xfrm>
          <a:prstGeom prst="rect">
            <a:avLst/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1508760"/>
            <a:ext cx="2697480" cy="42976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3E1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82880"/>
          <a:lstStyle/>
          <a:p>
            <a:pPr algn="ctr"/>
            <a:r>
              <a:rPr sz="1600" b="1">
                <a:solidFill>
                  <a:srgbClr val="2A78D6"/>
                </a:solidFill>
              </a:rPr>
              <a:t>MLflow</a:t>
            </a:r>
          </a:p>
          <a:p>
            <a:pPr>
              <a:spcBef>
                <a:spcPts val="800"/>
              </a:spcBef>
            </a:pPr>
            <a:r>
              <a:rPr sz="1200">
                <a:solidFill>
                  <a:srgbClr val="5A5A5A"/>
                </a:solidFill>
              </a:rPr>
              <a:t>Every run (Random Forest, LightGBM, LSTM) logged with params, metrics and artefacts to a SQLite-backed tracking store — 3 clean FINISHED runs kept, stale runs soft-deleted.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383280" y="1508760"/>
            <a:ext cx="2697480" cy="42976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3E1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82880"/>
          <a:lstStyle/>
          <a:p>
            <a:pPr algn="ctr"/>
            <a:r>
              <a:rPr sz="1600" b="1">
                <a:solidFill>
                  <a:srgbClr val="2A78D6"/>
                </a:solidFill>
              </a:rPr>
              <a:t>DVC</a:t>
            </a:r>
          </a:p>
          <a:p>
            <a:pPr>
              <a:spcBef>
                <a:spcPts val="800"/>
              </a:spcBef>
            </a:pPr>
            <a:r>
              <a:rPr sz="1200">
                <a:solidFill>
                  <a:srgbClr val="5A5A5A"/>
                </a:solidFill>
              </a:rPr>
              <a:t>Raw CSVs and the processed/engineered training frame are data-versioned against a local remote, independent of git history.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508760"/>
            <a:ext cx="2697480" cy="42976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3E1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82880"/>
          <a:lstStyle/>
          <a:p>
            <a:pPr algn="ctr"/>
            <a:r>
              <a:rPr sz="1600" b="1">
                <a:solidFill>
                  <a:srgbClr val="2A78D6"/>
                </a:solidFill>
              </a:rPr>
              <a:t>Git</a:t>
            </a:r>
          </a:p>
          <a:p>
            <a:pPr>
              <a:spcBef>
                <a:spcPts val="800"/>
              </a:spcBef>
            </a:pPr>
            <a:r>
              <a:rPr sz="1200">
                <a:solidFill>
                  <a:srgbClr val="5A5A5A"/>
                </a:solidFill>
              </a:rPr>
              <a:t>Full source history for the pipeline, EDA, training scripts and Flask app.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052560" y="1508760"/>
            <a:ext cx="2697480" cy="42976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3E1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82880"/>
          <a:lstStyle/>
          <a:p>
            <a:pPr algn="ctr"/>
            <a:r>
              <a:rPr sz="1600" b="1">
                <a:solidFill>
                  <a:srgbClr val="2A78D6"/>
                </a:solidFill>
              </a:rPr>
              <a:t>Serialization</a:t>
            </a:r>
          </a:p>
          <a:p>
            <a:pPr>
              <a:spcBef>
                <a:spcPts val="800"/>
              </a:spcBef>
            </a:pPr>
            <a:r>
              <a:rPr sz="1200">
                <a:solidFill>
                  <a:srgbClr val="5A5A5A"/>
                </a:solidFill>
              </a:rPr>
              <a:t>Models saved with a timestamp (model_DD-MM-YYYY-HH-MM-SS-CC.pkl) plus a sibling metadata JSON — supports daily retraining with full traceability.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A5A5A"/>
                </a:solidFill>
                <a:latin typeface="Calibri"/>
              </a:rPr>
              <a:t>Rossmann Sales Forecasting  |  NextHikes IT Solutions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510528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5A5A5A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EB6834"/>
                </a:solidFill>
                <a:latin typeface="Calibri"/>
              </a:rPr>
              <a:t>TASK 3 · SERVING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21792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0B0B0B"/>
                </a:solidFill>
                <a:latin typeface="Calibri"/>
              </a:rPr>
              <a:t>A dashboard the finance team can use directly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51560"/>
            <a:ext cx="1005840" cy="50800"/>
          </a:xfrm>
          <a:prstGeom prst="rect">
            <a:avLst/>
          </a:prstGeom>
          <a:solidFill>
            <a:srgbClr val="EB68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58521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</a:pPr>
            <a:r>
              <a:rPr sz="1500">
                <a:solidFill>
                  <a:srgbClr val="0B0B0B"/>
                </a:solidFill>
                <a:latin typeface="Calibri"/>
              </a:rPr>
              <a:t>•  Flask app (app/) — a finance analyst picks a store, uploads a CSV of dates to forecast (with optional holiday/promo flags).</a:t>
            </a:r>
          </a:p>
          <a:p>
            <a:pPr>
              <a:spcAft>
                <a:spcPts val="1500"/>
              </a:spcAft>
            </a:pPr>
            <a:r>
              <a:rPr sz="1500">
                <a:solidFill>
                  <a:srgbClr val="0B0B0B"/>
                </a:solidFill>
                <a:latin typeface="Calibri"/>
              </a:rPr>
              <a:t>•  Returns a chart of predicted sales with a confidence band where the model supports it, plus an estimated customer count.</a:t>
            </a:r>
          </a:p>
          <a:p>
            <a:pPr>
              <a:spcAft>
                <a:spcPts val="1500"/>
              </a:spcAft>
            </a:pPr>
            <a:r>
              <a:rPr sz="1500">
                <a:solidFill>
                  <a:srgbClr val="0B0B0B"/>
                </a:solidFill>
                <a:latin typeface="Calibri"/>
              </a:rPr>
              <a:t>•  Results downloadable as CSV to feed the analyst's own planning process.</a:t>
            </a:r>
          </a:p>
          <a:p>
            <a:pPr>
              <a:spcAft>
                <a:spcPts val="1500"/>
              </a:spcAft>
            </a:pPr>
            <a:r>
              <a:rPr b="1" sz="1500">
                <a:solidFill>
                  <a:srgbClr val="2A78D6"/>
                </a:solidFill>
                <a:latin typeface="Calibri"/>
              </a:rPr>
              <a:t>No duplicated logic:  </a:t>
            </a:r>
            <a:r>
              <a:rPr sz="1500">
                <a:solidFill>
                  <a:srgbClr val="0B0B0B"/>
                </a:solidFill>
                <a:latin typeface="Calibri"/>
              </a:rPr>
              <a:t>the app calls the exact same fitted pipeline object validated in Task 2 — the model that's tested is the model that's served.</a:t>
            </a:r>
          </a:p>
          <a:p>
            <a:pPr>
              <a:spcAft>
                <a:spcPts val="1500"/>
              </a:spcAft>
            </a:pPr>
            <a:r>
              <a:rPr sz="1500">
                <a:solidFill>
                  <a:srgbClr val="0B0B0B"/>
                </a:solidFill>
                <a:latin typeface="Calibri"/>
              </a:rPr>
              <a:t>•  JSON API (/api/predict) and a model-listing endpoint (/api/models) support programmatic access alongside the UI.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0" y="1554480"/>
            <a:ext cx="4846320" cy="3931920"/>
          </a:xfrm>
          <a:prstGeom prst="roundRect">
            <a:avLst>
              <a:gd name="adj" fmla="val 6000"/>
            </a:avLst>
          </a:prstGeom>
          <a:solidFill>
            <a:srgbClr val="14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 rIns="274320"/>
          <a:lstStyle/>
          <a:p>
            <a:pPr algn="ctr"/>
            <a:r>
              <a:rPr b="1" sz="1600">
                <a:solidFill>
                  <a:srgbClr val="FFFFFF"/>
                </a:solidFill>
              </a:rPr>
              <a:t>Routes</a:t>
            </a:r>
          </a:p>
          <a:p>
            <a:pPr>
              <a:spcBef>
                <a:spcPts val="1000"/>
              </a:spcBef>
            </a:pPr>
            <a:r>
              <a:rPr sz="1300" b="1">
                <a:solidFill>
                  <a:srgbClr val="8FB6EA"/>
                </a:solidFill>
                <a:latin typeface="Consolas"/>
              </a:rPr>
              <a:t>GET  /</a:t>
            </a:r>
          </a:p>
          <a:p>
            <a:r>
              <a:rPr sz="1150">
                <a:solidFill>
                  <a:srgbClr val="C9D3E6"/>
                </a:solidFill>
              </a:rPr>
              <a:t>upload form</a:t>
            </a:r>
          </a:p>
          <a:p>
            <a:pPr>
              <a:spcBef>
                <a:spcPts val="1000"/>
              </a:spcBef>
            </a:pPr>
            <a:r>
              <a:rPr sz="1300" b="1">
                <a:solidFill>
                  <a:srgbClr val="8FB6EA"/>
                </a:solidFill>
                <a:latin typeface="Consolas"/>
              </a:rPr>
              <a:t>POST /predict</a:t>
            </a:r>
          </a:p>
          <a:p>
            <a:r>
              <a:rPr sz="1150">
                <a:solidFill>
                  <a:srgbClr val="C9D3E6"/>
                </a:solidFill>
              </a:rPr>
              <a:t>multipart CSV upload → chart + table</a:t>
            </a:r>
          </a:p>
          <a:p>
            <a:pPr>
              <a:spcBef>
                <a:spcPts val="1000"/>
              </a:spcBef>
            </a:pPr>
            <a:r>
              <a:rPr sz="1300" b="1">
                <a:solidFill>
                  <a:srgbClr val="8FB6EA"/>
                </a:solidFill>
                <a:latin typeface="Consolas"/>
              </a:rPr>
              <a:t>GET  /download/&lt;token&gt;</a:t>
            </a:r>
          </a:p>
          <a:p>
            <a:r>
              <a:rPr sz="1150">
                <a:solidFill>
                  <a:srgbClr val="C9D3E6"/>
                </a:solidFill>
              </a:rPr>
              <a:t>CSV export of a prior run</a:t>
            </a:r>
          </a:p>
          <a:p>
            <a:pPr>
              <a:spcBef>
                <a:spcPts val="1000"/>
              </a:spcBef>
            </a:pPr>
            <a:r>
              <a:rPr sz="1300" b="1">
                <a:solidFill>
                  <a:srgbClr val="8FB6EA"/>
                </a:solidFill>
                <a:latin typeface="Consolas"/>
              </a:rPr>
              <a:t>GET  /sample-csv</a:t>
            </a:r>
          </a:p>
          <a:p>
            <a:r>
              <a:rPr sz="1150">
                <a:solidFill>
                  <a:srgbClr val="C9D3E6"/>
                </a:solidFill>
              </a:rPr>
              <a:t>starter template for analysts</a:t>
            </a:r>
          </a:p>
          <a:p>
            <a:pPr>
              <a:spcBef>
                <a:spcPts val="1000"/>
              </a:spcBef>
            </a:pPr>
            <a:r>
              <a:rPr sz="1300" b="1">
                <a:solidFill>
                  <a:srgbClr val="8FB6EA"/>
                </a:solidFill>
                <a:latin typeface="Consolas"/>
              </a:rPr>
              <a:t>GET  /api/models</a:t>
            </a:r>
          </a:p>
          <a:p>
            <a:r>
              <a:rPr sz="1150">
                <a:solidFill>
                  <a:srgbClr val="C9D3E6"/>
                </a:solidFill>
              </a:rPr>
              <a:t>list available serialized models</a:t>
            </a:r>
          </a:p>
          <a:p>
            <a:pPr>
              <a:spcBef>
                <a:spcPts val="1000"/>
              </a:spcBef>
            </a:pPr>
            <a:r>
              <a:rPr sz="1300" b="1">
                <a:solidFill>
                  <a:srgbClr val="8FB6EA"/>
                </a:solidFill>
                <a:latin typeface="Consolas"/>
              </a:rPr>
              <a:t>POST /api/predict</a:t>
            </a:r>
          </a:p>
          <a:p>
            <a:r>
              <a:rPr sz="1150">
                <a:solidFill>
                  <a:srgbClr val="C9D3E6"/>
                </a:solidFill>
              </a:rPr>
              <a:t>JSON in, JSON predictions out</a:t>
            </a:r>
          </a:p>
          <a:p>
            <a:pPr>
              <a:spcBef>
                <a:spcPts val="1000"/>
              </a:spcBef>
            </a:pPr>
            <a:r>
              <a:rPr sz="1300" b="1">
                <a:solidFill>
                  <a:srgbClr val="8FB6EA"/>
                </a:solidFill>
                <a:latin typeface="Consolas"/>
              </a:rPr>
              <a:t>GET  /healthz</a:t>
            </a:r>
          </a:p>
          <a:p>
            <a:r>
              <a:rPr sz="1150">
                <a:solidFill>
                  <a:srgbClr val="C9D3E6"/>
                </a:solidFill>
              </a:rPr>
              <a:t>liveness check for deployment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A5A5A"/>
                </a:solidFill>
                <a:latin typeface="Calibri"/>
              </a:rPr>
              <a:t>Rossmann Sales Forecasting  |  NextHikes IT Solutions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38560" y="6510528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5A5A5A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2A78D6"/>
                </a:solidFill>
                <a:latin typeface="Calibri"/>
              </a:rPr>
              <a:t>RECOMMENDATIONS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21792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0B0B0B"/>
                </a:solidFill>
                <a:latin typeface="Calibri"/>
              </a:rPr>
              <a:t>What the finance team should do with this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51560"/>
            <a:ext cx="1005840" cy="50800"/>
          </a:xfrm>
          <a:prstGeom prst="rect">
            <a:avLst/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640080" y="1554480"/>
            <a:ext cx="502920" cy="502920"/>
          </a:xfrm>
          <a:prstGeom prst="ellipse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80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1527048"/>
            <a:ext cx="4206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0B0B0B"/>
                </a:solidFill>
                <a:latin typeface="Calibri"/>
              </a:rPr>
              <a:t>Retarget promo spend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17320" y="1938528"/>
            <a:ext cx="9784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5A5A5A"/>
                </a:solidFill>
                <a:latin typeface="Calibri"/>
              </a:rPr>
              <a:t>toward the top-quartile-responding stores identified in Task 1 — actionable immediately, no model required.</a:t>
            </a:r>
          </a:p>
        </p:txBody>
      </p:sp>
      <p:sp>
        <p:nvSpPr>
          <p:cNvPr id="8" name="Oval 7"/>
          <p:cNvSpPr/>
          <p:nvPr/>
        </p:nvSpPr>
        <p:spPr>
          <a:xfrm>
            <a:off x="640080" y="2606040"/>
            <a:ext cx="502920" cy="502920"/>
          </a:xfrm>
          <a:prstGeom prst="ellipse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80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17320" y="2578608"/>
            <a:ext cx="4206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0B0B0B"/>
                </a:solidFill>
                <a:latin typeface="Calibri"/>
              </a:rPr>
              <a:t>Treat competitor distance with caution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7320" y="2990088"/>
            <a:ext cx="9784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5A5A5A"/>
                </a:solidFill>
                <a:latin typeface="Calibri"/>
              </a:rPr>
              <a:t>in any manual override — it mostly encodes location type, not competitive threat.</a:t>
            </a:r>
          </a:p>
        </p:txBody>
      </p:sp>
      <p:sp>
        <p:nvSpPr>
          <p:cNvPr id="11" name="Oval 10"/>
          <p:cNvSpPr/>
          <p:nvPr/>
        </p:nvSpPr>
        <p:spPr>
          <a:xfrm>
            <a:off x="640080" y="3657600"/>
            <a:ext cx="502920" cy="502920"/>
          </a:xfrm>
          <a:prstGeom prst="ellipse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80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7320" y="3630168"/>
            <a:ext cx="4206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0B0B0B"/>
                </a:solidFill>
                <a:latin typeface="Calibri"/>
              </a:rPr>
              <a:t>Adopt the model for the 6-week cycle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17320" y="4041648"/>
            <a:ext cx="9784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5A5A5A"/>
                </a:solidFill>
                <a:latin typeface="Calibri"/>
              </a:rPr>
              <a:t>it was built for; the current validation window can't yet confirm accuracy through the December peak — worth a dedicated check after a full year of live forecasts.</a:t>
            </a:r>
          </a:p>
        </p:txBody>
      </p:sp>
      <p:sp>
        <p:nvSpPr>
          <p:cNvPr id="14" name="Oval 13"/>
          <p:cNvSpPr/>
          <p:nvPr/>
        </p:nvSpPr>
        <p:spPr>
          <a:xfrm>
            <a:off x="640080" y="4709160"/>
            <a:ext cx="502920" cy="502920"/>
          </a:xfrm>
          <a:prstGeom prst="ellipse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80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17320" y="4681728"/>
            <a:ext cx="4206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0B0B0B"/>
                </a:solidFill>
                <a:latin typeface="Calibri"/>
              </a:rPr>
              <a:t>Retrain regularly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17320" y="5093208"/>
            <a:ext cx="9784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5A5A5A"/>
                </a:solidFill>
                <a:latin typeface="Calibri"/>
              </a:rPr>
              <a:t>using the existing pipeline and timestamped serialization — daily retraining with full MLflow tracking is already in place.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A5A5A"/>
                </a:solidFill>
                <a:latin typeface="Calibri"/>
              </a:rPr>
              <a:t>Rossmann Sales Forecasting  |  NextHikes IT Solutions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510528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5A5A5A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B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65176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FFFFFF"/>
                </a:solidFill>
                <a:latin typeface="Calibri"/>
              </a:rP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47472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C9D3E6"/>
                </a:solidFill>
                <a:latin typeface="Calibri"/>
              </a:rPr>
              <a:t>Full write-up: reports/blog_post.md  |  Notebook: notebooks/Rossmann_Sales_Forecasting.ipynb  |  App: app/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93192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8FB6EA"/>
                </a:solidFill>
                <a:latin typeface="Calibri"/>
              </a:rPr>
              <a:t>NextHikes IT Solutions × Rossmann Pharmaceuticals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