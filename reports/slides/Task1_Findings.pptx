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9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19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098623-FF20-4E3F-AB20-C5FE3D90FC6F}" type="doc">
      <dgm:prSet loTypeId="urn:microsoft.com/office/officeart/2005/8/layout/chart3" loCatId="cycle" qsTypeId="urn:microsoft.com/office/officeart/2005/8/quickstyle/simple1#9" qsCatId="simple" csTypeId="urn:microsoft.com/office/officeart/2005/8/colors/accent1_2#9" csCatId="accent1"/>
      <dgm:spPr/>
      <dgm:t>
        <a:bodyPr/>
        <a:lstStyle/>
        <a:p>
          <a:endParaRPr lang="en-US"/>
        </a:p>
      </dgm:t>
    </dgm:pt>
    <dgm:pt modelId="{9F3C4442-0FA2-4044-A53E-65B72214DA3F}">
      <dgm:prSet/>
      <dgm:spPr/>
      <dgm:t>
        <a:bodyPr/>
        <a:lstStyle/>
        <a:p>
          <a:r>
            <a:rPr lang="en-US"/>
            <a:t>•  1,017,209 daily records across 1,115 stores, Jan 2013 – Jul 2015; test window is exactly the brief's 48-day forecast horizon.</a:t>
          </a:r>
        </a:p>
      </dgm:t>
    </dgm:pt>
    <dgm:pt modelId="{412F1FC5-4DC7-4487-A25B-43A0DC284E4F}" type="parTrans" cxnId="{6D022600-8160-4246-ACEE-E45FC7EA96DA}">
      <dgm:prSet/>
      <dgm:spPr/>
      <dgm:t>
        <a:bodyPr/>
        <a:lstStyle/>
        <a:p>
          <a:endParaRPr lang="en-US"/>
        </a:p>
      </dgm:t>
    </dgm:pt>
    <dgm:pt modelId="{29BE39F0-A299-4E01-9085-E1086093C061}" type="sibTrans" cxnId="{6D022600-8160-4246-ACEE-E45FC7EA96DA}">
      <dgm:prSet/>
      <dgm:spPr/>
      <dgm:t>
        <a:bodyPr/>
        <a:lstStyle/>
        <a:p>
          <a:endParaRPr lang="en-US"/>
        </a:p>
      </dgm:t>
    </dgm:pt>
    <dgm:pt modelId="{BDA2B6BE-68DD-488E-8448-56E3BE2182EA}">
      <dgm:prSet/>
      <dgm:spPr/>
      <dgm:t>
        <a:bodyPr/>
        <a:lstStyle/>
        <a:p>
          <a:r>
            <a:rPr lang="en-US"/>
            <a:t>•  Promotions, competition, school/state holidays, seasonality and locality flagged by the data team as the key drivers.</a:t>
          </a:r>
        </a:p>
      </dgm:t>
    </dgm:pt>
    <dgm:pt modelId="{254A44A9-CBC6-4CC6-9F40-AFC1967DEF1A}" type="parTrans" cxnId="{C34B5BE6-C315-4A8D-AEC9-5EF6352255AD}">
      <dgm:prSet/>
      <dgm:spPr/>
      <dgm:t>
        <a:bodyPr/>
        <a:lstStyle/>
        <a:p>
          <a:endParaRPr lang="en-US"/>
        </a:p>
      </dgm:t>
    </dgm:pt>
    <dgm:pt modelId="{D96BC146-2ED4-44C2-BB4A-7D61D9EAEAA1}" type="sibTrans" cxnId="{C34B5BE6-C315-4A8D-AEC9-5EF6352255AD}">
      <dgm:prSet/>
      <dgm:spPr/>
      <dgm:t>
        <a:bodyPr/>
        <a:lstStyle/>
        <a:p>
          <a:endParaRPr lang="en-US"/>
        </a:p>
      </dgm:t>
    </dgm:pt>
    <dgm:pt modelId="{BCB9372B-E600-4833-A945-80D295FE5745}">
      <dgm:prSet/>
      <dgm:spPr/>
      <dgm:t>
        <a:bodyPr/>
        <a:lstStyle/>
        <a:p>
          <a:r>
            <a:rPr lang="en-US"/>
            <a:t>•  This deck answers one question before deeper modelling: is further investigation worth it? Short answer: yes — several store-level and promo-targeting patterns are immediately actionable.</a:t>
          </a:r>
        </a:p>
      </dgm:t>
    </dgm:pt>
    <dgm:pt modelId="{C35F16F4-7C43-49EE-B097-D49A614A9620}" type="parTrans" cxnId="{86F6E38E-9132-4434-BEBD-C387BD1A9EBE}">
      <dgm:prSet/>
      <dgm:spPr/>
      <dgm:t>
        <a:bodyPr/>
        <a:lstStyle/>
        <a:p>
          <a:endParaRPr lang="en-US"/>
        </a:p>
      </dgm:t>
    </dgm:pt>
    <dgm:pt modelId="{EAB9C2DB-71C1-4332-836F-962A88E754F4}" type="sibTrans" cxnId="{86F6E38E-9132-4434-BEBD-C387BD1A9EBE}">
      <dgm:prSet/>
      <dgm:spPr/>
      <dgm:t>
        <a:bodyPr/>
        <a:lstStyle/>
        <a:p>
          <a:endParaRPr lang="en-US"/>
        </a:p>
      </dgm:t>
    </dgm:pt>
    <dgm:pt modelId="{65C562E3-EB82-453C-949A-35FC603C9D5F}" type="pres">
      <dgm:prSet presAssocID="{CD098623-FF20-4E3F-AB20-C5FE3D90FC6F}" presName="compositeShape" presStyleCnt="0">
        <dgm:presLayoutVars>
          <dgm:chMax val="7"/>
          <dgm:dir/>
          <dgm:resizeHandles val="exact"/>
        </dgm:presLayoutVars>
      </dgm:prSet>
      <dgm:spPr/>
    </dgm:pt>
    <dgm:pt modelId="{81FD36F8-D220-4872-8E02-455622FEC67A}" type="pres">
      <dgm:prSet presAssocID="{CD098623-FF20-4E3F-AB20-C5FE3D90FC6F}" presName="wedge1" presStyleLbl="node1" presStyleIdx="0" presStyleCnt="3"/>
      <dgm:spPr/>
    </dgm:pt>
    <dgm:pt modelId="{74AF8373-2075-44D5-9929-E9837B94A802}" type="pres">
      <dgm:prSet presAssocID="{CD098623-FF20-4E3F-AB20-C5FE3D90FC6F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B0E131C5-7AD7-4A38-B3EB-CD7AD0704B29}" type="pres">
      <dgm:prSet presAssocID="{CD098623-FF20-4E3F-AB20-C5FE3D90FC6F}" presName="wedge2" presStyleLbl="node1" presStyleIdx="1" presStyleCnt="3"/>
      <dgm:spPr/>
    </dgm:pt>
    <dgm:pt modelId="{60D26DAB-53A4-4914-8407-6FFD29B7F1B3}" type="pres">
      <dgm:prSet presAssocID="{CD098623-FF20-4E3F-AB20-C5FE3D90FC6F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AC91D148-F363-4D4E-B09E-D0E3C42F75E7}" type="pres">
      <dgm:prSet presAssocID="{CD098623-FF20-4E3F-AB20-C5FE3D90FC6F}" presName="wedge3" presStyleLbl="node1" presStyleIdx="2" presStyleCnt="3"/>
      <dgm:spPr/>
    </dgm:pt>
    <dgm:pt modelId="{AA8A5FDB-B41D-4BD6-9AD2-369B6D622783}" type="pres">
      <dgm:prSet presAssocID="{CD098623-FF20-4E3F-AB20-C5FE3D90FC6F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D022600-8160-4246-ACEE-E45FC7EA96DA}" srcId="{CD098623-FF20-4E3F-AB20-C5FE3D90FC6F}" destId="{9F3C4442-0FA2-4044-A53E-65B72214DA3F}" srcOrd="0" destOrd="0" parTransId="{412F1FC5-4DC7-4487-A25B-43A0DC284E4F}" sibTransId="{29BE39F0-A299-4E01-9085-E1086093C061}"/>
    <dgm:cxn modelId="{93EFF327-D436-4BB3-AB29-B19F518C5702}" type="presOf" srcId="{9F3C4442-0FA2-4044-A53E-65B72214DA3F}" destId="{81FD36F8-D220-4872-8E02-455622FEC67A}" srcOrd="0" destOrd="0" presId="urn:microsoft.com/office/officeart/2005/8/layout/chart3"/>
    <dgm:cxn modelId="{73777D51-FE2D-4E38-9AD9-E8FBA9CAA9D9}" type="presOf" srcId="{9F3C4442-0FA2-4044-A53E-65B72214DA3F}" destId="{74AF8373-2075-44D5-9929-E9837B94A802}" srcOrd="1" destOrd="0" presId="urn:microsoft.com/office/officeart/2005/8/layout/chart3"/>
    <dgm:cxn modelId="{EABB5A8E-0313-46F3-BEFE-2FAF07BB573A}" type="presOf" srcId="{BDA2B6BE-68DD-488E-8448-56E3BE2182EA}" destId="{B0E131C5-7AD7-4A38-B3EB-CD7AD0704B29}" srcOrd="0" destOrd="0" presId="urn:microsoft.com/office/officeart/2005/8/layout/chart3"/>
    <dgm:cxn modelId="{86F6E38E-9132-4434-BEBD-C387BD1A9EBE}" srcId="{CD098623-FF20-4E3F-AB20-C5FE3D90FC6F}" destId="{BCB9372B-E600-4833-A945-80D295FE5745}" srcOrd="2" destOrd="0" parTransId="{C35F16F4-7C43-49EE-B097-D49A614A9620}" sibTransId="{EAB9C2DB-71C1-4332-836F-962A88E754F4}"/>
    <dgm:cxn modelId="{7933F4A2-6F84-4C2E-980E-C23EE7454DB4}" type="presOf" srcId="{BDA2B6BE-68DD-488E-8448-56E3BE2182EA}" destId="{60D26DAB-53A4-4914-8407-6FFD29B7F1B3}" srcOrd="1" destOrd="0" presId="urn:microsoft.com/office/officeart/2005/8/layout/chart3"/>
    <dgm:cxn modelId="{4BC410A7-D4FD-494D-8B74-6BD360028C9B}" type="presOf" srcId="{BCB9372B-E600-4833-A945-80D295FE5745}" destId="{AC91D148-F363-4D4E-B09E-D0E3C42F75E7}" srcOrd="0" destOrd="0" presId="urn:microsoft.com/office/officeart/2005/8/layout/chart3"/>
    <dgm:cxn modelId="{DDB558C8-2AEF-410D-8E49-7D8D03131EF4}" type="presOf" srcId="{BCB9372B-E600-4833-A945-80D295FE5745}" destId="{AA8A5FDB-B41D-4BD6-9AD2-369B6D622783}" srcOrd="1" destOrd="0" presId="urn:microsoft.com/office/officeart/2005/8/layout/chart3"/>
    <dgm:cxn modelId="{DA3BE3CB-2511-4123-ACD7-A4C5BF11F302}" type="presOf" srcId="{CD098623-FF20-4E3F-AB20-C5FE3D90FC6F}" destId="{65C562E3-EB82-453C-949A-35FC603C9D5F}" srcOrd="0" destOrd="0" presId="urn:microsoft.com/office/officeart/2005/8/layout/chart3"/>
    <dgm:cxn modelId="{C34B5BE6-C315-4A8D-AEC9-5EF6352255AD}" srcId="{CD098623-FF20-4E3F-AB20-C5FE3D90FC6F}" destId="{BDA2B6BE-68DD-488E-8448-56E3BE2182EA}" srcOrd="1" destOrd="0" parTransId="{254A44A9-CBC6-4CC6-9F40-AFC1967DEF1A}" sibTransId="{D96BC146-2ED4-44C2-BB4A-7D61D9EAEAA1}"/>
    <dgm:cxn modelId="{120DBC90-0D92-422F-AE3B-EB8731DC0809}" type="presParOf" srcId="{65C562E3-EB82-453C-949A-35FC603C9D5F}" destId="{81FD36F8-D220-4872-8E02-455622FEC67A}" srcOrd="0" destOrd="0" presId="urn:microsoft.com/office/officeart/2005/8/layout/chart3"/>
    <dgm:cxn modelId="{DC9E768E-0D01-4D18-BCDC-B7C1119EF273}" type="presParOf" srcId="{65C562E3-EB82-453C-949A-35FC603C9D5F}" destId="{74AF8373-2075-44D5-9929-E9837B94A802}" srcOrd="1" destOrd="0" presId="urn:microsoft.com/office/officeart/2005/8/layout/chart3"/>
    <dgm:cxn modelId="{D28472DE-D1CE-4BA4-BEAB-65060E62C13A}" type="presParOf" srcId="{65C562E3-EB82-453C-949A-35FC603C9D5F}" destId="{B0E131C5-7AD7-4A38-B3EB-CD7AD0704B29}" srcOrd="2" destOrd="0" presId="urn:microsoft.com/office/officeart/2005/8/layout/chart3"/>
    <dgm:cxn modelId="{36760A9A-C5FD-4BA8-A19C-398F86EA74BC}" type="presParOf" srcId="{65C562E3-EB82-453C-949A-35FC603C9D5F}" destId="{60D26DAB-53A4-4914-8407-6FFD29B7F1B3}" srcOrd="3" destOrd="0" presId="urn:microsoft.com/office/officeart/2005/8/layout/chart3"/>
    <dgm:cxn modelId="{2C4B5FC6-2CD8-4FE0-BED4-EFBB85DE923B}" type="presParOf" srcId="{65C562E3-EB82-453C-949A-35FC603C9D5F}" destId="{AC91D148-F363-4D4E-B09E-D0E3C42F75E7}" srcOrd="4" destOrd="0" presId="urn:microsoft.com/office/officeart/2005/8/layout/chart3"/>
    <dgm:cxn modelId="{5FEA7EF8-022B-4B8E-BB45-FFDA68DD94C4}" type="presParOf" srcId="{65C562E3-EB82-453C-949A-35FC603C9D5F}" destId="{AA8A5FDB-B41D-4BD6-9AD2-369B6D622783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5637859-6969-491C-A893-7411C7E8BF5E}" type="doc">
      <dgm:prSet loTypeId="urn:microsoft.com/office/officeart/2005/8/layout/process5" loCatId="process" qsTypeId="urn:microsoft.com/office/officeart/2005/8/quickstyle/simple1#14" qsCatId="simple" csTypeId="urn:microsoft.com/office/officeart/2005/8/colors/accent1_2#14" csCatId="accent1"/>
      <dgm:spPr/>
      <dgm:t>
        <a:bodyPr/>
        <a:lstStyle/>
        <a:p>
          <a:endParaRPr lang="en-US"/>
        </a:p>
      </dgm:t>
    </dgm:pt>
    <dgm:pt modelId="{F8331701-8AB0-4D8A-A69B-285B8C816093}">
      <dgm:prSet/>
      <dgm:spPr/>
      <dgm:t>
        <a:bodyPr/>
        <a:lstStyle/>
        <a:p>
          <a:r>
            <a:rPr lang="en-US"/>
            <a:t>•  +38.8% sales on promo weekdays vs non-promo weekdays — split roughly evenly between +19.8% more footfall and +15.3% bigger baskets.</a:t>
          </a:r>
        </a:p>
      </dgm:t>
    </dgm:pt>
    <dgm:pt modelId="{0349AF5F-FCCD-4B4D-B837-A37D3644891D}" type="parTrans" cxnId="{E4B4D4E4-52A1-48E9-984B-130784CC4487}">
      <dgm:prSet/>
      <dgm:spPr/>
      <dgm:t>
        <a:bodyPr/>
        <a:lstStyle/>
        <a:p>
          <a:endParaRPr lang="en-US"/>
        </a:p>
      </dgm:t>
    </dgm:pt>
    <dgm:pt modelId="{32485753-D987-4925-8177-C940B036A2BE}" type="sibTrans" cxnId="{E4B4D4E4-52A1-48E9-984B-130784CC4487}">
      <dgm:prSet/>
      <dgm:spPr/>
      <dgm:t>
        <a:bodyPr/>
        <a:lstStyle/>
        <a:p>
          <a:endParaRPr lang="en-US"/>
        </a:p>
      </dgm:t>
    </dgm:pt>
    <dgm:pt modelId="{200FA7D5-0A95-4C39-991D-E3CF5ABC2A26}">
      <dgm:prSet/>
      <dgm:spPr/>
      <dgm:t>
        <a:bodyPr/>
        <a:lstStyle/>
        <a:p>
          <a:r>
            <a:rPr lang="en-US"/>
            <a:t>•  But response is highly uneven: the top quartile of stores captures 38% of all incremental promo revenue, the bottom quartile just 14%.</a:t>
          </a:r>
        </a:p>
      </dgm:t>
    </dgm:pt>
    <dgm:pt modelId="{5E6F97AE-1EBC-4FF4-901F-6590283C4280}" type="parTrans" cxnId="{3C47DCE6-4837-4B42-90D8-C5B53CDCAC7D}">
      <dgm:prSet/>
      <dgm:spPr/>
      <dgm:t>
        <a:bodyPr/>
        <a:lstStyle/>
        <a:p>
          <a:endParaRPr lang="en-US"/>
        </a:p>
      </dgm:t>
    </dgm:pt>
    <dgm:pt modelId="{4B465080-9454-4257-BA7C-954F42485D9F}" type="sibTrans" cxnId="{3C47DCE6-4837-4B42-90D8-C5B53CDCAC7D}">
      <dgm:prSet/>
      <dgm:spPr/>
      <dgm:t>
        <a:bodyPr/>
        <a:lstStyle/>
        <a:p>
          <a:endParaRPr lang="en-US"/>
        </a:p>
      </dgm:t>
    </dgm:pt>
    <dgm:pt modelId="{FFCBE4F8-DA57-4B9C-B0DD-7F400E0AD2DB}">
      <dgm:prSet/>
      <dgm:spPr/>
      <dgm:t>
        <a:bodyPr/>
        <a:lstStyle/>
        <a:p>
          <a:r>
            <a:rPr lang="en-US"/>
            <a:t>•  Recommendation: concentrate promo spend on the top responders; treat this as observational, not causal — a holdout trial would confirm it.</a:t>
          </a:r>
        </a:p>
      </dgm:t>
    </dgm:pt>
    <dgm:pt modelId="{A8A8C029-4338-4E20-B93B-E75D5D4D35E5}" type="parTrans" cxnId="{B979C072-FCA3-460E-A718-F8B988270274}">
      <dgm:prSet/>
      <dgm:spPr/>
      <dgm:t>
        <a:bodyPr/>
        <a:lstStyle/>
        <a:p>
          <a:endParaRPr lang="en-US"/>
        </a:p>
      </dgm:t>
    </dgm:pt>
    <dgm:pt modelId="{A393E031-8D95-4EB7-8252-2B6263280BD1}" type="sibTrans" cxnId="{B979C072-FCA3-460E-A718-F8B988270274}">
      <dgm:prSet/>
      <dgm:spPr/>
      <dgm:t>
        <a:bodyPr/>
        <a:lstStyle/>
        <a:p>
          <a:endParaRPr lang="en-US"/>
        </a:p>
      </dgm:t>
    </dgm:pt>
    <dgm:pt modelId="{882BCDF5-BEA1-49F6-B841-398AB08A992B}" type="pres">
      <dgm:prSet presAssocID="{95637859-6969-491C-A893-7411C7E8BF5E}" presName="diagram" presStyleCnt="0">
        <dgm:presLayoutVars>
          <dgm:dir/>
          <dgm:resizeHandles val="exact"/>
        </dgm:presLayoutVars>
      </dgm:prSet>
      <dgm:spPr/>
    </dgm:pt>
    <dgm:pt modelId="{0D005C47-8044-47DE-8AD2-B8FABB5CE107}" type="pres">
      <dgm:prSet presAssocID="{F8331701-8AB0-4D8A-A69B-285B8C816093}" presName="node" presStyleLbl="node1" presStyleIdx="0" presStyleCnt="3">
        <dgm:presLayoutVars>
          <dgm:bulletEnabled val="1"/>
        </dgm:presLayoutVars>
      </dgm:prSet>
      <dgm:spPr/>
    </dgm:pt>
    <dgm:pt modelId="{414633C3-68B1-4832-8E6A-29422497B9B3}" type="pres">
      <dgm:prSet presAssocID="{32485753-D987-4925-8177-C940B036A2BE}" presName="sibTrans" presStyleLbl="sibTrans2D1" presStyleIdx="0" presStyleCnt="2"/>
      <dgm:spPr/>
    </dgm:pt>
    <dgm:pt modelId="{449B7FDB-A66C-42D3-86F3-6F8CA22A8FD8}" type="pres">
      <dgm:prSet presAssocID="{32485753-D987-4925-8177-C940B036A2BE}" presName="connectorText" presStyleLbl="sibTrans2D1" presStyleIdx="0" presStyleCnt="2"/>
      <dgm:spPr/>
    </dgm:pt>
    <dgm:pt modelId="{8E4219BA-78E6-4C67-9BFA-99643BE84E19}" type="pres">
      <dgm:prSet presAssocID="{200FA7D5-0A95-4C39-991D-E3CF5ABC2A26}" presName="node" presStyleLbl="node1" presStyleIdx="1" presStyleCnt="3">
        <dgm:presLayoutVars>
          <dgm:bulletEnabled val="1"/>
        </dgm:presLayoutVars>
      </dgm:prSet>
      <dgm:spPr/>
    </dgm:pt>
    <dgm:pt modelId="{ACAC4864-B765-4336-A926-1B6E6090A9D4}" type="pres">
      <dgm:prSet presAssocID="{4B465080-9454-4257-BA7C-954F42485D9F}" presName="sibTrans" presStyleLbl="sibTrans2D1" presStyleIdx="1" presStyleCnt="2"/>
      <dgm:spPr/>
    </dgm:pt>
    <dgm:pt modelId="{42A3E97F-A230-4730-97A6-FBC8001D7A97}" type="pres">
      <dgm:prSet presAssocID="{4B465080-9454-4257-BA7C-954F42485D9F}" presName="connectorText" presStyleLbl="sibTrans2D1" presStyleIdx="1" presStyleCnt="2"/>
      <dgm:spPr/>
    </dgm:pt>
    <dgm:pt modelId="{710CEF70-AF7F-4502-B8EA-9EE18ADF1375}" type="pres">
      <dgm:prSet presAssocID="{FFCBE4F8-DA57-4B9C-B0DD-7F400E0AD2DB}" presName="node" presStyleLbl="node1" presStyleIdx="2" presStyleCnt="3">
        <dgm:presLayoutVars>
          <dgm:bulletEnabled val="1"/>
        </dgm:presLayoutVars>
      </dgm:prSet>
      <dgm:spPr/>
    </dgm:pt>
  </dgm:ptLst>
  <dgm:cxnLst>
    <dgm:cxn modelId="{3D704438-A207-40AA-A915-F5D9E19FC9C9}" type="presOf" srcId="{F8331701-8AB0-4D8A-A69B-285B8C816093}" destId="{0D005C47-8044-47DE-8AD2-B8FABB5CE107}" srcOrd="0" destOrd="0" presId="urn:microsoft.com/office/officeart/2005/8/layout/process5"/>
    <dgm:cxn modelId="{828FF93C-91DB-453D-B0C7-18AFBE01F54C}" type="presOf" srcId="{200FA7D5-0A95-4C39-991D-E3CF5ABC2A26}" destId="{8E4219BA-78E6-4C67-9BFA-99643BE84E19}" srcOrd="0" destOrd="0" presId="urn:microsoft.com/office/officeart/2005/8/layout/process5"/>
    <dgm:cxn modelId="{B979C072-FCA3-460E-A718-F8B988270274}" srcId="{95637859-6969-491C-A893-7411C7E8BF5E}" destId="{FFCBE4F8-DA57-4B9C-B0DD-7F400E0AD2DB}" srcOrd="2" destOrd="0" parTransId="{A8A8C029-4338-4E20-B93B-E75D5D4D35E5}" sibTransId="{A393E031-8D95-4EB7-8252-2B6263280BD1}"/>
    <dgm:cxn modelId="{1052D473-E168-4F47-9D7F-5FE7BF797DB8}" type="presOf" srcId="{32485753-D987-4925-8177-C940B036A2BE}" destId="{449B7FDB-A66C-42D3-86F3-6F8CA22A8FD8}" srcOrd="1" destOrd="0" presId="urn:microsoft.com/office/officeart/2005/8/layout/process5"/>
    <dgm:cxn modelId="{2C8B9D7D-7F42-4275-951B-D3331107FD63}" type="presOf" srcId="{4B465080-9454-4257-BA7C-954F42485D9F}" destId="{42A3E97F-A230-4730-97A6-FBC8001D7A97}" srcOrd="1" destOrd="0" presId="urn:microsoft.com/office/officeart/2005/8/layout/process5"/>
    <dgm:cxn modelId="{A942AB89-0074-4D1F-838C-9515025F482C}" type="presOf" srcId="{95637859-6969-491C-A893-7411C7E8BF5E}" destId="{882BCDF5-BEA1-49F6-B841-398AB08A992B}" srcOrd="0" destOrd="0" presId="urn:microsoft.com/office/officeart/2005/8/layout/process5"/>
    <dgm:cxn modelId="{17590CAE-76F1-4636-BDB8-DE78018C9E97}" type="presOf" srcId="{FFCBE4F8-DA57-4B9C-B0DD-7F400E0AD2DB}" destId="{710CEF70-AF7F-4502-B8EA-9EE18ADF1375}" srcOrd="0" destOrd="0" presId="urn:microsoft.com/office/officeart/2005/8/layout/process5"/>
    <dgm:cxn modelId="{B46F86BC-85DF-4A89-9869-BA2CF2072D3F}" type="presOf" srcId="{32485753-D987-4925-8177-C940B036A2BE}" destId="{414633C3-68B1-4832-8E6A-29422497B9B3}" srcOrd="0" destOrd="0" presId="urn:microsoft.com/office/officeart/2005/8/layout/process5"/>
    <dgm:cxn modelId="{E4B4D4E4-52A1-48E9-984B-130784CC4487}" srcId="{95637859-6969-491C-A893-7411C7E8BF5E}" destId="{F8331701-8AB0-4D8A-A69B-285B8C816093}" srcOrd="0" destOrd="0" parTransId="{0349AF5F-FCCD-4B4D-B837-A37D3644891D}" sibTransId="{32485753-D987-4925-8177-C940B036A2BE}"/>
    <dgm:cxn modelId="{3C47DCE6-4837-4B42-90D8-C5B53CDCAC7D}" srcId="{95637859-6969-491C-A893-7411C7E8BF5E}" destId="{200FA7D5-0A95-4C39-991D-E3CF5ABC2A26}" srcOrd="1" destOrd="0" parTransId="{5E6F97AE-1EBC-4FF4-901F-6590283C4280}" sibTransId="{4B465080-9454-4257-BA7C-954F42485D9F}"/>
    <dgm:cxn modelId="{D9FD2FF5-33E6-48D6-9CA8-F9AD4AE2BD3C}" type="presOf" srcId="{4B465080-9454-4257-BA7C-954F42485D9F}" destId="{ACAC4864-B765-4336-A926-1B6E6090A9D4}" srcOrd="0" destOrd="0" presId="urn:microsoft.com/office/officeart/2005/8/layout/process5"/>
    <dgm:cxn modelId="{5CBCBE40-8F3A-4EF2-BF80-2A23909B1F12}" type="presParOf" srcId="{882BCDF5-BEA1-49F6-B841-398AB08A992B}" destId="{0D005C47-8044-47DE-8AD2-B8FABB5CE107}" srcOrd="0" destOrd="0" presId="urn:microsoft.com/office/officeart/2005/8/layout/process5"/>
    <dgm:cxn modelId="{33A5C265-BE65-430A-B500-F47B8D29FE53}" type="presParOf" srcId="{882BCDF5-BEA1-49F6-B841-398AB08A992B}" destId="{414633C3-68B1-4832-8E6A-29422497B9B3}" srcOrd="1" destOrd="0" presId="urn:microsoft.com/office/officeart/2005/8/layout/process5"/>
    <dgm:cxn modelId="{3A259835-4C62-423B-B932-49D687BC90CD}" type="presParOf" srcId="{414633C3-68B1-4832-8E6A-29422497B9B3}" destId="{449B7FDB-A66C-42D3-86F3-6F8CA22A8FD8}" srcOrd="0" destOrd="0" presId="urn:microsoft.com/office/officeart/2005/8/layout/process5"/>
    <dgm:cxn modelId="{1DEA4CF3-E8C3-4EAD-90D0-47BDBDF1EC9C}" type="presParOf" srcId="{882BCDF5-BEA1-49F6-B841-398AB08A992B}" destId="{8E4219BA-78E6-4C67-9BFA-99643BE84E19}" srcOrd="2" destOrd="0" presId="urn:microsoft.com/office/officeart/2005/8/layout/process5"/>
    <dgm:cxn modelId="{288D650B-466B-4FA6-878F-B5B0EECC0D9D}" type="presParOf" srcId="{882BCDF5-BEA1-49F6-B841-398AB08A992B}" destId="{ACAC4864-B765-4336-A926-1B6E6090A9D4}" srcOrd="3" destOrd="0" presId="urn:microsoft.com/office/officeart/2005/8/layout/process5"/>
    <dgm:cxn modelId="{63A08B90-6379-418C-A1C1-3845D3F7405A}" type="presParOf" srcId="{ACAC4864-B765-4336-A926-1B6E6090A9D4}" destId="{42A3E97F-A230-4730-97A6-FBC8001D7A97}" srcOrd="0" destOrd="0" presId="urn:microsoft.com/office/officeart/2005/8/layout/process5"/>
    <dgm:cxn modelId="{B62E46D6-7CB9-48F3-9D12-911F01D1A0F8}" type="presParOf" srcId="{882BCDF5-BEA1-49F6-B841-398AB08A992B}" destId="{710CEF70-AF7F-4502-B8EA-9EE18ADF1375}" srcOrd="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75178A1-62A9-4433-ADB9-46CC62D224D1}" type="doc">
      <dgm:prSet loTypeId="urn:microsoft.com/office/officeart/2005/8/layout/vProcess5" loCatId="process" qsTypeId="urn:microsoft.com/office/officeart/2005/8/quickstyle/simple1#19" qsCatId="simple" csTypeId="urn:microsoft.com/office/officeart/2005/8/colors/accent1_2#19" csCatId="accent1"/>
      <dgm:spPr/>
      <dgm:t>
        <a:bodyPr/>
        <a:lstStyle/>
        <a:p>
          <a:endParaRPr lang="en-US"/>
        </a:p>
      </dgm:t>
    </dgm:pt>
    <dgm:pt modelId="{42A12023-1DEC-40B2-A995-0F98A5236B88}">
      <dgm:prSet/>
      <dgm:spPr/>
      <dgm:t>
        <a:bodyPr/>
        <a:lstStyle/>
        <a:p>
          <a:r>
            <a:rPr lang="en-US"/>
            <a:t>•  Store identity and calendar structure (day-of-week, month-phase, holiday proximity) dominate over attributes assumed to matter most, like competitor distance — which mostly proxies urban density (Q10).</a:t>
          </a:r>
        </a:p>
      </dgm:t>
    </dgm:pt>
    <dgm:pt modelId="{6C0A26AE-ED90-40E7-AC6D-1DE1BC48A2A9}" type="parTrans" cxnId="{E19FCD75-7837-4055-9D74-8160D6C21D7C}">
      <dgm:prSet/>
      <dgm:spPr/>
      <dgm:t>
        <a:bodyPr/>
        <a:lstStyle/>
        <a:p>
          <a:endParaRPr lang="en-US"/>
        </a:p>
      </dgm:t>
    </dgm:pt>
    <dgm:pt modelId="{3BBB5125-A468-4D60-B507-7FF53021C7E6}" type="sibTrans" cxnId="{E19FCD75-7837-4055-9D74-8160D6C21D7C}">
      <dgm:prSet/>
      <dgm:spPr/>
      <dgm:t>
        <a:bodyPr/>
        <a:lstStyle/>
        <a:p>
          <a:endParaRPr lang="en-US"/>
        </a:p>
      </dgm:t>
    </dgm:pt>
    <dgm:pt modelId="{9F198302-F761-4BBA-A539-D443D5AF6188}">
      <dgm:prSet/>
      <dgm:spPr/>
      <dgm:t>
        <a:bodyPr/>
        <a:lstStyle/>
        <a:p>
          <a:r>
            <a:rPr lang="en-US"/>
            <a:t>•  RMSPE is the right loss: store size varies 6x, so a scale-sensitive metric like RMSE would silently ignore small stores.</a:t>
          </a:r>
        </a:p>
      </dgm:t>
    </dgm:pt>
    <dgm:pt modelId="{D877DA9F-4574-4378-B3AE-DF210556F1DC}" type="parTrans" cxnId="{6C9EED34-B6B5-4A35-BB27-89479DEC16AC}">
      <dgm:prSet/>
      <dgm:spPr/>
      <dgm:t>
        <a:bodyPr/>
        <a:lstStyle/>
        <a:p>
          <a:endParaRPr lang="en-US"/>
        </a:p>
      </dgm:t>
    </dgm:pt>
    <dgm:pt modelId="{55CD3DB8-7B56-4B9C-BB0B-E7341F2622B9}" type="sibTrans" cxnId="{6C9EED34-B6B5-4A35-BB27-89479DEC16AC}">
      <dgm:prSet/>
      <dgm:spPr/>
      <dgm:t>
        <a:bodyPr/>
        <a:lstStyle/>
        <a:p>
          <a:endParaRPr lang="en-US"/>
        </a:p>
      </dgm:t>
    </dgm:pt>
    <dgm:pt modelId="{1D456344-61BE-421C-A750-5CDEA2B5FD57}">
      <dgm:prSet/>
      <dgm:spPr/>
      <dgm:t>
        <a:bodyPr/>
        <a:lstStyle/>
        <a:p>
          <a:r>
            <a:rPr lang="en-US"/>
            <a:t>•  Next steps: Random Forest + LightGBM comparison behind one sklearn pipeline, an LSTM time-series forecaster, MLflow tracking, and a Flask dashboard for the finance team.</a:t>
          </a:r>
        </a:p>
      </dgm:t>
    </dgm:pt>
    <dgm:pt modelId="{2D78F0F0-C50D-4474-A691-699A00F5D422}" type="parTrans" cxnId="{C9E30E3C-F8CC-445C-948C-34D44B3B1B21}">
      <dgm:prSet/>
      <dgm:spPr/>
      <dgm:t>
        <a:bodyPr/>
        <a:lstStyle/>
        <a:p>
          <a:endParaRPr lang="en-US"/>
        </a:p>
      </dgm:t>
    </dgm:pt>
    <dgm:pt modelId="{44E2A0B9-5713-4DDA-9370-9B2166EDE972}" type="sibTrans" cxnId="{C9E30E3C-F8CC-445C-948C-34D44B3B1B21}">
      <dgm:prSet/>
      <dgm:spPr/>
      <dgm:t>
        <a:bodyPr/>
        <a:lstStyle/>
        <a:p>
          <a:endParaRPr lang="en-US"/>
        </a:p>
      </dgm:t>
    </dgm:pt>
    <dgm:pt modelId="{74CBA270-E3CF-408C-A537-B4FF621DB94E}">
      <dgm:prSet/>
      <dgm:spPr/>
      <dgm:t>
        <a:bodyPr/>
        <a:lstStyle/>
        <a:p>
          <a:r>
            <a:rPr lang="en-US"/>
            <a:t>•  Actionable now, independent of the model: retarget Promo spend toward top-quartile-responding stores.</a:t>
          </a:r>
        </a:p>
      </dgm:t>
    </dgm:pt>
    <dgm:pt modelId="{B0652642-7355-4BB1-A8B1-5B219001A3D5}" type="parTrans" cxnId="{085A3A37-E2C7-4AA3-8B7C-D23B4168DA24}">
      <dgm:prSet/>
      <dgm:spPr/>
      <dgm:t>
        <a:bodyPr/>
        <a:lstStyle/>
        <a:p>
          <a:endParaRPr lang="en-US"/>
        </a:p>
      </dgm:t>
    </dgm:pt>
    <dgm:pt modelId="{4A8451EF-B96D-40A0-98D6-49DBB17E942A}" type="sibTrans" cxnId="{085A3A37-E2C7-4AA3-8B7C-D23B4168DA24}">
      <dgm:prSet/>
      <dgm:spPr/>
      <dgm:t>
        <a:bodyPr/>
        <a:lstStyle/>
        <a:p>
          <a:endParaRPr lang="en-US"/>
        </a:p>
      </dgm:t>
    </dgm:pt>
    <dgm:pt modelId="{DDE37874-3C4B-405F-82B8-BEF2575B5B67}" type="pres">
      <dgm:prSet presAssocID="{975178A1-62A9-4433-ADB9-46CC62D224D1}" presName="outerComposite" presStyleCnt="0">
        <dgm:presLayoutVars>
          <dgm:chMax val="5"/>
          <dgm:dir/>
          <dgm:resizeHandles val="exact"/>
        </dgm:presLayoutVars>
      </dgm:prSet>
      <dgm:spPr/>
    </dgm:pt>
    <dgm:pt modelId="{5C1C3CCC-DB55-4DDC-BB30-65023392F1CD}" type="pres">
      <dgm:prSet presAssocID="{975178A1-62A9-4433-ADB9-46CC62D224D1}" presName="dummyMaxCanvas" presStyleCnt="0">
        <dgm:presLayoutVars/>
      </dgm:prSet>
      <dgm:spPr/>
    </dgm:pt>
    <dgm:pt modelId="{DFF88AE7-F603-42C5-9812-3F25B10FFD61}" type="pres">
      <dgm:prSet presAssocID="{975178A1-62A9-4433-ADB9-46CC62D224D1}" presName="FourNodes_1" presStyleLbl="node1" presStyleIdx="0" presStyleCnt="4">
        <dgm:presLayoutVars>
          <dgm:bulletEnabled val="1"/>
        </dgm:presLayoutVars>
      </dgm:prSet>
      <dgm:spPr/>
    </dgm:pt>
    <dgm:pt modelId="{0E4649D5-9640-4920-B342-93CD31B227AB}" type="pres">
      <dgm:prSet presAssocID="{975178A1-62A9-4433-ADB9-46CC62D224D1}" presName="FourNodes_2" presStyleLbl="node1" presStyleIdx="1" presStyleCnt="4">
        <dgm:presLayoutVars>
          <dgm:bulletEnabled val="1"/>
        </dgm:presLayoutVars>
      </dgm:prSet>
      <dgm:spPr/>
    </dgm:pt>
    <dgm:pt modelId="{A3DEB17A-A8D8-4632-9A7C-BBB2B5865DCC}" type="pres">
      <dgm:prSet presAssocID="{975178A1-62A9-4433-ADB9-46CC62D224D1}" presName="FourNodes_3" presStyleLbl="node1" presStyleIdx="2" presStyleCnt="4">
        <dgm:presLayoutVars>
          <dgm:bulletEnabled val="1"/>
        </dgm:presLayoutVars>
      </dgm:prSet>
      <dgm:spPr/>
    </dgm:pt>
    <dgm:pt modelId="{369EC727-AB0F-4048-B6F9-B060B5FFDEA8}" type="pres">
      <dgm:prSet presAssocID="{975178A1-62A9-4433-ADB9-46CC62D224D1}" presName="FourNodes_4" presStyleLbl="node1" presStyleIdx="3" presStyleCnt="4">
        <dgm:presLayoutVars>
          <dgm:bulletEnabled val="1"/>
        </dgm:presLayoutVars>
      </dgm:prSet>
      <dgm:spPr/>
    </dgm:pt>
    <dgm:pt modelId="{F67EEB13-395B-4CDB-A471-888B9276FC13}" type="pres">
      <dgm:prSet presAssocID="{975178A1-62A9-4433-ADB9-46CC62D224D1}" presName="FourConn_1-2" presStyleLbl="fgAccFollowNode1" presStyleIdx="0" presStyleCnt="3">
        <dgm:presLayoutVars>
          <dgm:bulletEnabled val="1"/>
        </dgm:presLayoutVars>
      </dgm:prSet>
      <dgm:spPr/>
    </dgm:pt>
    <dgm:pt modelId="{4E019D7A-5772-4C70-841D-129B6C896B11}" type="pres">
      <dgm:prSet presAssocID="{975178A1-62A9-4433-ADB9-46CC62D224D1}" presName="FourConn_2-3" presStyleLbl="fgAccFollowNode1" presStyleIdx="1" presStyleCnt="3">
        <dgm:presLayoutVars>
          <dgm:bulletEnabled val="1"/>
        </dgm:presLayoutVars>
      </dgm:prSet>
      <dgm:spPr/>
    </dgm:pt>
    <dgm:pt modelId="{28A1F162-7090-46A4-B7ED-913A7DD3B780}" type="pres">
      <dgm:prSet presAssocID="{975178A1-62A9-4433-ADB9-46CC62D224D1}" presName="FourConn_3-4" presStyleLbl="fgAccFollowNode1" presStyleIdx="2" presStyleCnt="3">
        <dgm:presLayoutVars>
          <dgm:bulletEnabled val="1"/>
        </dgm:presLayoutVars>
      </dgm:prSet>
      <dgm:spPr/>
    </dgm:pt>
    <dgm:pt modelId="{B5045896-76B4-4FFF-BE5B-D75E89A67250}" type="pres">
      <dgm:prSet presAssocID="{975178A1-62A9-4433-ADB9-46CC62D224D1}" presName="FourNodes_1_text" presStyleLbl="node1" presStyleIdx="3" presStyleCnt="4">
        <dgm:presLayoutVars>
          <dgm:bulletEnabled val="1"/>
        </dgm:presLayoutVars>
      </dgm:prSet>
      <dgm:spPr/>
    </dgm:pt>
    <dgm:pt modelId="{C204E577-7F9F-4C5E-931D-D76F1227C9EE}" type="pres">
      <dgm:prSet presAssocID="{975178A1-62A9-4433-ADB9-46CC62D224D1}" presName="FourNodes_2_text" presStyleLbl="node1" presStyleIdx="3" presStyleCnt="4">
        <dgm:presLayoutVars>
          <dgm:bulletEnabled val="1"/>
        </dgm:presLayoutVars>
      </dgm:prSet>
      <dgm:spPr/>
    </dgm:pt>
    <dgm:pt modelId="{F0A5E326-C2C7-4E2B-9513-3CB35F9B69AC}" type="pres">
      <dgm:prSet presAssocID="{975178A1-62A9-4433-ADB9-46CC62D224D1}" presName="FourNodes_3_text" presStyleLbl="node1" presStyleIdx="3" presStyleCnt="4">
        <dgm:presLayoutVars>
          <dgm:bulletEnabled val="1"/>
        </dgm:presLayoutVars>
      </dgm:prSet>
      <dgm:spPr/>
    </dgm:pt>
    <dgm:pt modelId="{7E2DC272-F746-481C-9140-E328C2B15E5C}" type="pres">
      <dgm:prSet presAssocID="{975178A1-62A9-4433-ADB9-46CC62D224D1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285C2D02-D2A1-4C90-AD3D-15968B0B105D}" type="presOf" srcId="{975178A1-62A9-4433-ADB9-46CC62D224D1}" destId="{DDE37874-3C4B-405F-82B8-BEF2575B5B67}" srcOrd="0" destOrd="0" presId="urn:microsoft.com/office/officeart/2005/8/layout/vProcess5"/>
    <dgm:cxn modelId="{D8D27812-0CD6-4765-B857-6B38BBEC5C2A}" type="presOf" srcId="{1D456344-61BE-421C-A750-5CDEA2B5FD57}" destId="{F0A5E326-C2C7-4E2B-9513-3CB35F9B69AC}" srcOrd="1" destOrd="0" presId="urn:microsoft.com/office/officeart/2005/8/layout/vProcess5"/>
    <dgm:cxn modelId="{379D8812-13E2-4841-B0DD-5672AE08627E}" type="presOf" srcId="{42A12023-1DEC-40B2-A995-0F98A5236B88}" destId="{DFF88AE7-F603-42C5-9812-3F25B10FFD61}" srcOrd="0" destOrd="0" presId="urn:microsoft.com/office/officeart/2005/8/layout/vProcess5"/>
    <dgm:cxn modelId="{2366BE2E-745D-4D97-80A0-05776CFC3214}" type="presOf" srcId="{44E2A0B9-5713-4DDA-9370-9B2166EDE972}" destId="{28A1F162-7090-46A4-B7ED-913A7DD3B780}" srcOrd="0" destOrd="0" presId="urn:microsoft.com/office/officeart/2005/8/layout/vProcess5"/>
    <dgm:cxn modelId="{844B3A34-163C-45E7-BAFA-D2059AD38EB8}" type="presOf" srcId="{1D456344-61BE-421C-A750-5CDEA2B5FD57}" destId="{A3DEB17A-A8D8-4632-9A7C-BBB2B5865DCC}" srcOrd="0" destOrd="0" presId="urn:microsoft.com/office/officeart/2005/8/layout/vProcess5"/>
    <dgm:cxn modelId="{6C9EED34-B6B5-4A35-BB27-89479DEC16AC}" srcId="{975178A1-62A9-4433-ADB9-46CC62D224D1}" destId="{9F198302-F761-4BBA-A539-D443D5AF6188}" srcOrd="1" destOrd="0" parTransId="{D877DA9F-4574-4378-B3AE-DF210556F1DC}" sibTransId="{55CD3DB8-7B56-4B9C-BB0B-E7341F2622B9}"/>
    <dgm:cxn modelId="{085A3A37-E2C7-4AA3-8B7C-D23B4168DA24}" srcId="{975178A1-62A9-4433-ADB9-46CC62D224D1}" destId="{74CBA270-E3CF-408C-A537-B4FF621DB94E}" srcOrd="3" destOrd="0" parTransId="{B0652642-7355-4BB1-A8B1-5B219001A3D5}" sibTransId="{4A8451EF-B96D-40A0-98D6-49DBB17E942A}"/>
    <dgm:cxn modelId="{C9E30E3C-F8CC-445C-948C-34D44B3B1B21}" srcId="{975178A1-62A9-4433-ADB9-46CC62D224D1}" destId="{1D456344-61BE-421C-A750-5CDEA2B5FD57}" srcOrd="2" destOrd="0" parTransId="{2D78F0F0-C50D-4474-A691-699A00F5D422}" sibTransId="{44E2A0B9-5713-4DDA-9370-9B2166EDE972}"/>
    <dgm:cxn modelId="{0D30FC5B-D58D-4CEF-8AE7-F8CDE35F872F}" type="presOf" srcId="{9F198302-F761-4BBA-A539-D443D5AF6188}" destId="{C204E577-7F9F-4C5E-931D-D76F1227C9EE}" srcOrd="1" destOrd="0" presId="urn:microsoft.com/office/officeart/2005/8/layout/vProcess5"/>
    <dgm:cxn modelId="{318A5A74-5BEB-42F4-864A-766B3CEBC07A}" type="presOf" srcId="{9F198302-F761-4BBA-A539-D443D5AF6188}" destId="{0E4649D5-9640-4920-B342-93CD31B227AB}" srcOrd="0" destOrd="0" presId="urn:microsoft.com/office/officeart/2005/8/layout/vProcess5"/>
    <dgm:cxn modelId="{E19FCD75-7837-4055-9D74-8160D6C21D7C}" srcId="{975178A1-62A9-4433-ADB9-46CC62D224D1}" destId="{42A12023-1DEC-40B2-A995-0F98A5236B88}" srcOrd="0" destOrd="0" parTransId="{6C0A26AE-ED90-40E7-AC6D-1DE1BC48A2A9}" sibTransId="{3BBB5125-A468-4D60-B507-7FF53021C7E6}"/>
    <dgm:cxn modelId="{279DAE7F-6920-414E-8D5E-189C47262BAB}" type="presOf" srcId="{74CBA270-E3CF-408C-A537-B4FF621DB94E}" destId="{369EC727-AB0F-4048-B6F9-B060B5FFDEA8}" srcOrd="0" destOrd="0" presId="urn:microsoft.com/office/officeart/2005/8/layout/vProcess5"/>
    <dgm:cxn modelId="{16EEDAA2-C167-448D-9D91-25B03847AA88}" type="presOf" srcId="{3BBB5125-A468-4D60-B507-7FF53021C7E6}" destId="{F67EEB13-395B-4CDB-A471-888B9276FC13}" srcOrd="0" destOrd="0" presId="urn:microsoft.com/office/officeart/2005/8/layout/vProcess5"/>
    <dgm:cxn modelId="{5A3CC3BA-D0FD-4FD6-ABF6-BE31BA0A24DD}" type="presOf" srcId="{55CD3DB8-7B56-4B9C-BB0B-E7341F2622B9}" destId="{4E019D7A-5772-4C70-841D-129B6C896B11}" srcOrd="0" destOrd="0" presId="urn:microsoft.com/office/officeart/2005/8/layout/vProcess5"/>
    <dgm:cxn modelId="{805C5EC6-D166-4DEF-B2D3-58E3662A9275}" type="presOf" srcId="{42A12023-1DEC-40B2-A995-0F98A5236B88}" destId="{B5045896-76B4-4FFF-BE5B-D75E89A67250}" srcOrd="1" destOrd="0" presId="urn:microsoft.com/office/officeart/2005/8/layout/vProcess5"/>
    <dgm:cxn modelId="{EF6464CB-39C7-4854-92C6-47327589E4D1}" type="presOf" srcId="{74CBA270-E3CF-408C-A537-B4FF621DB94E}" destId="{7E2DC272-F746-481C-9140-E328C2B15E5C}" srcOrd="1" destOrd="0" presId="urn:microsoft.com/office/officeart/2005/8/layout/vProcess5"/>
    <dgm:cxn modelId="{6B8E1712-E4D4-4485-B615-843F1DEC6C80}" type="presParOf" srcId="{DDE37874-3C4B-405F-82B8-BEF2575B5B67}" destId="{5C1C3CCC-DB55-4DDC-BB30-65023392F1CD}" srcOrd="0" destOrd="0" presId="urn:microsoft.com/office/officeart/2005/8/layout/vProcess5"/>
    <dgm:cxn modelId="{69D1B0EA-0331-4547-A593-10BE17C06CD6}" type="presParOf" srcId="{DDE37874-3C4B-405F-82B8-BEF2575B5B67}" destId="{DFF88AE7-F603-42C5-9812-3F25B10FFD61}" srcOrd="1" destOrd="0" presId="urn:microsoft.com/office/officeart/2005/8/layout/vProcess5"/>
    <dgm:cxn modelId="{660CFC93-BB3C-408F-A431-19FA153363CC}" type="presParOf" srcId="{DDE37874-3C4B-405F-82B8-BEF2575B5B67}" destId="{0E4649D5-9640-4920-B342-93CD31B227AB}" srcOrd="2" destOrd="0" presId="urn:microsoft.com/office/officeart/2005/8/layout/vProcess5"/>
    <dgm:cxn modelId="{DCB41B8B-C8F5-4D5B-BDBE-CBC31D40A2F0}" type="presParOf" srcId="{DDE37874-3C4B-405F-82B8-BEF2575B5B67}" destId="{A3DEB17A-A8D8-4632-9A7C-BBB2B5865DCC}" srcOrd="3" destOrd="0" presId="urn:microsoft.com/office/officeart/2005/8/layout/vProcess5"/>
    <dgm:cxn modelId="{DC93EF86-6775-4AA1-9F5E-A3D6BBF841DB}" type="presParOf" srcId="{DDE37874-3C4B-405F-82B8-BEF2575B5B67}" destId="{369EC727-AB0F-4048-B6F9-B060B5FFDEA8}" srcOrd="4" destOrd="0" presId="urn:microsoft.com/office/officeart/2005/8/layout/vProcess5"/>
    <dgm:cxn modelId="{6830953B-8246-4AC1-B325-8315EE8B8D56}" type="presParOf" srcId="{DDE37874-3C4B-405F-82B8-BEF2575B5B67}" destId="{F67EEB13-395B-4CDB-A471-888B9276FC13}" srcOrd="5" destOrd="0" presId="urn:microsoft.com/office/officeart/2005/8/layout/vProcess5"/>
    <dgm:cxn modelId="{0155A77B-775C-4251-9FD7-78BCB86070F4}" type="presParOf" srcId="{DDE37874-3C4B-405F-82B8-BEF2575B5B67}" destId="{4E019D7A-5772-4C70-841D-129B6C896B11}" srcOrd="6" destOrd="0" presId="urn:microsoft.com/office/officeart/2005/8/layout/vProcess5"/>
    <dgm:cxn modelId="{57EDE799-CD56-431F-BC9A-EDB390D9F1CB}" type="presParOf" srcId="{DDE37874-3C4B-405F-82B8-BEF2575B5B67}" destId="{28A1F162-7090-46A4-B7ED-913A7DD3B780}" srcOrd="7" destOrd="0" presId="urn:microsoft.com/office/officeart/2005/8/layout/vProcess5"/>
    <dgm:cxn modelId="{DC35CD89-60D8-46BA-8E41-243252345896}" type="presParOf" srcId="{DDE37874-3C4B-405F-82B8-BEF2575B5B67}" destId="{B5045896-76B4-4FFF-BE5B-D75E89A67250}" srcOrd="8" destOrd="0" presId="urn:microsoft.com/office/officeart/2005/8/layout/vProcess5"/>
    <dgm:cxn modelId="{8478990E-3D69-4603-A506-5B6BC24A508A}" type="presParOf" srcId="{DDE37874-3C4B-405F-82B8-BEF2575B5B67}" destId="{C204E577-7F9F-4C5E-931D-D76F1227C9EE}" srcOrd="9" destOrd="0" presId="urn:microsoft.com/office/officeart/2005/8/layout/vProcess5"/>
    <dgm:cxn modelId="{02CB7036-7D8F-41B1-843A-5A7CB23808C6}" type="presParOf" srcId="{DDE37874-3C4B-405F-82B8-BEF2575B5B67}" destId="{F0A5E326-C2C7-4E2B-9513-3CB35F9B69AC}" srcOrd="10" destOrd="0" presId="urn:microsoft.com/office/officeart/2005/8/layout/vProcess5"/>
    <dgm:cxn modelId="{ABEDEE72-9A2F-4FDB-9F62-80BAC4E20CA9}" type="presParOf" srcId="{DDE37874-3C4B-405F-82B8-BEF2575B5B67}" destId="{7E2DC272-F746-481C-9140-E328C2B15E5C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FD36F8-D220-4872-8E02-455622FEC67A}">
      <dsp:nvSpPr>
        <dsp:cNvPr id="0" name=""/>
        <dsp:cNvSpPr/>
      </dsp:nvSpPr>
      <dsp:spPr>
        <a:xfrm>
          <a:off x="2018469" y="277748"/>
          <a:ext cx="3456432" cy="3456432"/>
        </a:xfrm>
        <a:prstGeom prst="pie">
          <a:avLst>
            <a:gd name="adj1" fmla="val 16200000"/>
            <a:gd name="adj2" fmla="val 18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•  1,017,209 daily records across 1,115 stores, Jan 2013 – Jul 2015; test window is exactly the brief's 48-day forecast horizon.</a:t>
          </a:r>
        </a:p>
      </dsp:txBody>
      <dsp:txXfrm>
        <a:off x="3897698" y="915543"/>
        <a:ext cx="1172718" cy="1152144"/>
      </dsp:txXfrm>
    </dsp:sp>
    <dsp:sp modelId="{B0E131C5-7AD7-4A38-B3EB-CD7AD0704B29}">
      <dsp:nvSpPr>
        <dsp:cNvPr id="0" name=""/>
        <dsp:cNvSpPr/>
      </dsp:nvSpPr>
      <dsp:spPr>
        <a:xfrm>
          <a:off x="1840298" y="380618"/>
          <a:ext cx="3456432" cy="3456432"/>
        </a:xfrm>
        <a:prstGeom prst="pie">
          <a:avLst>
            <a:gd name="adj1" fmla="val 1800000"/>
            <a:gd name="adj2" fmla="val 90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•  Promotions, competition, school/state holidays, seasonality and locality flagged by the data team as the key drivers.</a:t>
          </a:r>
        </a:p>
      </dsp:txBody>
      <dsp:txXfrm>
        <a:off x="2786702" y="2561463"/>
        <a:ext cx="1563624" cy="1069848"/>
      </dsp:txXfrm>
    </dsp:sp>
    <dsp:sp modelId="{AC91D148-F363-4D4E-B09E-D0E3C42F75E7}">
      <dsp:nvSpPr>
        <dsp:cNvPr id="0" name=""/>
        <dsp:cNvSpPr/>
      </dsp:nvSpPr>
      <dsp:spPr>
        <a:xfrm>
          <a:off x="1840298" y="380618"/>
          <a:ext cx="3456432" cy="3456432"/>
        </a:xfrm>
        <a:prstGeom prst="pie">
          <a:avLst>
            <a:gd name="adj1" fmla="val 90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•  This deck answers one question before deeper modelling: is further investigation worth it? Short answer: yes — several store-level and promo-targeting patterns are immediately actionable.</a:t>
          </a:r>
        </a:p>
      </dsp:txBody>
      <dsp:txXfrm>
        <a:off x="2210630" y="1059561"/>
        <a:ext cx="1172718" cy="11521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005C47-8044-47DE-8AD2-B8FABB5CE107}">
      <dsp:nvSpPr>
        <dsp:cNvPr id="0" name=""/>
        <dsp:cNvSpPr/>
      </dsp:nvSpPr>
      <dsp:spPr>
        <a:xfrm>
          <a:off x="274320" y="0"/>
          <a:ext cx="2743199" cy="16459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•  +38.8% sales on promo weekdays vs non-promo weekdays — split roughly evenly between +19.8% more footfall and +15.3% bigger baskets.</a:t>
          </a:r>
        </a:p>
      </dsp:txBody>
      <dsp:txXfrm>
        <a:off x="322527" y="48207"/>
        <a:ext cx="2646785" cy="1549506"/>
      </dsp:txXfrm>
    </dsp:sp>
    <dsp:sp modelId="{414633C3-68B1-4832-8E6A-29422497B9B3}">
      <dsp:nvSpPr>
        <dsp:cNvPr id="0" name=""/>
        <dsp:cNvSpPr/>
      </dsp:nvSpPr>
      <dsp:spPr>
        <a:xfrm>
          <a:off x="3258921" y="482803"/>
          <a:ext cx="581558" cy="6803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3258921" y="618866"/>
        <a:ext cx="407091" cy="408187"/>
      </dsp:txXfrm>
    </dsp:sp>
    <dsp:sp modelId="{8E4219BA-78E6-4C67-9BFA-99643BE84E19}">
      <dsp:nvSpPr>
        <dsp:cNvPr id="0" name=""/>
        <dsp:cNvSpPr/>
      </dsp:nvSpPr>
      <dsp:spPr>
        <a:xfrm>
          <a:off x="4114800" y="0"/>
          <a:ext cx="2743199" cy="16459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•  But response is highly uneven: the top quartile of stores captures 38% of all incremental promo revenue, the bottom quartile just 14%.</a:t>
          </a:r>
        </a:p>
      </dsp:txBody>
      <dsp:txXfrm>
        <a:off x="4163007" y="48207"/>
        <a:ext cx="2646785" cy="1549506"/>
      </dsp:txXfrm>
    </dsp:sp>
    <dsp:sp modelId="{ACAC4864-B765-4336-A926-1B6E6090A9D4}">
      <dsp:nvSpPr>
        <dsp:cNvPr id="0" name=""/>
        <dsp:cNvSpPr/>
      </dsp:nvSpPr>
      <dsp:spPr>
        <a:xfrm>
          <a:off x="7099401" y="482803"/>
          <a:ext cx="581558" cy="6803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7099401" y="618866"/>
        <a:ext cx="407091" cy="408187"/>
      </dsp:txXfrm>
    </dsp:sp>
    <dsp:sp modelId="{710CEF70-AF7F-4502-B8EA-9EE18ADF1375}">
      <dsp:nvSpPr>
        <dsp:cNvPr id="0" name=""/>
        <dsp:cNvSpPr/>
      </dsp:nvSpPr>
      <dsp:spPr>
        <a:xfrm>
          <a:off x="7955280" y="0"/>
          <a:ext cx="2743199" cy="16459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•  Recommendation: concentrate promo spend on the top responders; treat this as observational, not causal — a holdout trial would confirm it.</a:t>
          </a:r>
        </a:p>
      </dsp:txBody>
      <dsp:txXfrm>
        <a:off x="8003487" y="48207"/>
        <a:ext cx="2646785" cy="15495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F88AE7-F603-42C5-9812-3F25B10FFD61}">
      <dsp:nvSpPr>
        <dsp:cNvPr id="0" name=""/>
        <dsp:cNvSpPr/>
      </dsp:nvSpPr>
      <dsp:spPr>
        <a:xfrm>
          <a:off x="0" y="0"/>
          <a:ext cx="8778240" cy="9253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 Store identity and calendar structure (day-of-week, month-phase, holiday proximity) dominate over attributes assumed to matter most, like competitor distance — which mostly proxies urban density (Q10).</a:t>
          </a:r>
        </a:p>
      </dsp:txBody>
      <dsp:txXfrm>
        <a:off x="27103" y="27103"/>
        <a:ext cx="7701497" cy="871166"/>
      </dsp:txXfrm>
    </dsp:sp>
    <dsp:sp modelId="{0E4649D5-9640-4920-B342-93CD31B227AB}">
      <dsp:nvSpPr>
        <dsp:cNvPr id="0" name=""/>
        <dsp:cNvSpPr/>
      </dsp:nvSpPr>
      <dsp:spPr>
        <a:xfrm>
          <a:off x="735177" y="1093622"/>
          <a:ext cx="8778240" cy="9253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 RMSPE is the right loss: store size varies 6x, so a scale-sensitive metric like RMSE would silently ignore small stores.</a:t>
          </a:r>
        </a:p>
      </dsp:txBody>
      <dsp:txXfrm>
        <a:off x="762280" y="1120725"/>
        <a:ext cx="7387364" cy="871166"/>
      </dsp:txXfrm>
    </dsp:sp>
    <dsp:sp modelId="{A3DEB17A-A8D8-4632-9A7C-BBB2B5865DCC}">
      <dsp:nvSpPr>
        <dsp:cNvPr id="0" name=""/>
        <dsp:cNvSpPr/>
      </dsp:nvSpPr>
      <dsp:spPr>
        <a:xfrm>
          <a:off x="1459382" y="2187244"/>
          <a:ext cx="8778240" cy="9253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 Next steps: Random Forest + LightGBM comparison behind one sklearn pipeline, an LSTM time-series forecaster, MLflow tracking, and a Flask dashboard for the finance team.</a:t>
          </a:r>
        </a:p>
      </dsp:txBody>
      <dsp:txXfrm>
        <a:off x="1486485" y="2214347"/>
        <a:ext cx="7398336" cy="871166"/>
      </dsp:txXfrm>
    </dsp:sp>
    <dsp:sp modelId="{369EC727-AB0F-4048-B6F9-B060B5FFDEA8}">
      <dsp:nvSpPr>
        <dsp:cNvPr id="0" name=""/>
        <dsp:cNvSpPr/>
      </dsp:nvSpPr>
      <dsp:spPr>
        <a:xfrm>
          <a:off x="2194559" y="3280867"/>
          <a:ext cx="8778240" cy="9253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 Actionable now, independent of the model: retarget Promo spend toward top-quartile-responding stores.</a:t>
          </a:r>
        </a:p>
      </dsp:txBody>
      <dsp:txXfrm>
        <a:off x="2221662" y="3307970"/>
        <a:ext cx="7387364" cy="871166"/>
      </dsp:txXfrm>
    </dsp:sp>
    <dsp:sp modelId="{F67EEB13-395B-4CDB-A471-888B9276FC13}">
      <dsp:nvSpPr>
        <dsp:cNvPr id="0" name=""/>
        <dsp:cNvSpPr/>
      </dsp:nvSpPr>
      <dsp:spPr>
        <a:xfrm>
          <a:off x="8176747" y="708751"/>
          <a:ext cx="601492" cy="60149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8312083" y="708751"/>
        <a:ext cx="330820" cy="452623"/>
      </dsp:txXfrm>
    </dsp:sp>
    <dsp:sp modelId="{4E019D7A-5772-4C70-841D-129B6C896B11}">
      <dsp:nvSpPr>
        <dsp:cNvPr id="0" name=""/>
        <dsp:cNvSpPr/>
      </dsp:nvSpPr>
      <dsp:spPr>
        <a:xfrm>
          <a:off x="8911925" y="1802373"/>
          <a:ext cx="601492" cy="60149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9047261" y="1802373"/>
        <a:ext cx="330820" cy="452623"/>
      </dsp:txXfrm>
    </dsp:sp>
    <dsp:sp modelId="{28A1F162-7090-46A4-B7ED-913A7DD3B780}">
      <dsp:nvSpPr>
        <dsp:cNvPr id="0" name=""/>
        <dsp:cNvSpPr/>
      </dsp:nvSpPr>
      <dsp:spPr>
        <a:xfrm>
          <a:off x="9636130" y="2895996"/>
          <a:ext cx="601492" cy="60149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9771466" y="2895996"/>
        <a:ext cx="330820" cy="4526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9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19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0B0B0B"/>
                </a:solidFill>
                <a:latin typeface="Segoe UI"/>
              </a:rPr>
              <a:t>Rossmann Sales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2514E"/>
                </a:solidFill>
                <a:latin typeface="Segoe UI"/>
              </a:rPr>
              <a:t>First-Pass Findings from Exploratory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98781"/>
                </a:solidFill>
                <a:latin typeface="Segoe UI"/>
              </a:rPr>
              <a:t>NextHikes IT Solutions  •  Prepared for the Rossmann Pharmaceuticals finance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Rossmann Sales Forecasting  |  NextHikes IT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78D6"/>
                </a:solidFill>
                <a:latin typeface="Segoe UI"/>
              </a:rP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0B0B"/>
                </a:solidFill>
                <a:latin typeface="Segoe UI"/>
              </a:rPr>
              <a:t>Forecast daily sales, 6 weeks ahead, for every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A78D6"/>
                </a:solidFill>
                <a:latin typeface="Segoe UI"/>
              </a:rPr>
              <a:t>844,338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331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trading-day rows after removing</a:t>
            </a:r>
          </a:p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closed stores (17% of raw 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291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A78D6"/>
                </a:solidFill>
                <a:latin typeface="Segoe UI"/>
              </a:rPr>
              <a:t>60.2%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862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of total sales variance is</a:t>
            </a:r>
          </a:p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store identity alone, not calendar/promo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A78D6"/>
                </a:solidFill>
                <a:latin typeface="Segoe UI"/>
              </a:rPr>
              <a:t>6x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spread in average daily sales</a:t>
            </a:r>
          </a:p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between the smallest and largest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Rossmann Sales Forecasting  |  NextHikes IT Solutions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graphicFrame>
        <p:nvGraphicFramePr>
          <p:cNvPr id="14" name="TextBox 3">
            <a:extLst>
              <a:ext uri="{FF2B5EF4-FFF2-40B4-BE49-F238E27FC236}">
                <a16:creationId xmlns:a16="http://schemas.microsoft.com/office/drawing/2014/main" id="{72CE08A8-68A8-4B71-7B39-C8ECF27464E8}"/>
              </a:ext>
            </a:extLst>
          </p:cNvPr>
          <p:cNvGraphicFramePr/>
          <p:nvPr/>
        </p:nvGraphicFramePr>
        <p:xfrm>
          <a:off x="548640" y="1645920"/>
          <a:ext cx="7315200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78D6"/>
                </a:solidFill>
                <a:latin typeface="Segoe UI"/>
              </a:rPr>
              <a:t>FINDING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0B0B"/>
                </a:solidFill>
                <a:latin typeface="Segoe UI"/>
              </a:rPr>
              <a:t>Promos work — through both more customers and bigger baskets</a:t>
            </a:r>
          </a:p>
        </p:txBody>
      </p:sp>
      <p:pic>
        <p:nvPicPr>
          <p:cNvPr id="4" name="Picture 3" descr="q5_promo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0972800" cy="3174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Rossmann Sales Forecasting  |  NextHikes IT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graphicFrame>
        <p:nvGraphicFramePr>
          <p:cNvPr id="9" name="TextBox 4">
            <a:extLst>
              <a:ext uri="{FF2B5EF4-FFF2-40B4-BE49-F238E27FC236}">
                <a16:creationId xmlns:a16="http://schemas.microsoft.com/office/drawing/2014/main" id="{875382AA-4C2E-F9E5-DB85-A04E8851A9A5}"/>
              </a:ext>
            </a:extLst>
          </p:cNvPr>
          <p:cNvGraphicFramePr/>
          <p:nvPr/>
        </p:nvGraphicFramePr>
        <p:xfrm>
          <a:off x="548640" y="5074920"/>
          <a:ext cx="10972800" cy="1645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78D6"/>
                </a:solidFill>
                <a:latin typeface="Segoe UI"/>
              </a:rPr>
              <a:t>FINDING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0B0B"/>
                </a:solidFill>
                <a:latin typeface="Segoe UI"/>
              </a:rPr>
              <a:t>December is the dominant seasonal signal — but the peak isn't Christmas Eve</a:t>
            </a:r>
          </a:p>
        </p:txBody>
      </p:sp>
      <p:pic>
        <p:nvPicPr>
          <p:cNvPr id="4" name="Picture 3" descr="q3_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0972800" cy="30234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749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0B0B0B"/>
                </a:solidFill>
                <a:latin typeface="Segoe UI"/>
              </a:rPr>
              <a:t>•  December trades at 1.24x the annual average — the largest seasonal effect in the data.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0B0B0B"/>
                </a:solidFill>
                <a:latin typeface="Segoe UI"/>
              </a:rPr>
              <a:t>•  The true peak lands in the third week of Advent, not on the 24th — Christmas Eve itself is a below-average half-trading day.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0B0B0B"/>
                </a:solidFill>
                <a:latin typeface="Segoe UI"/>
              </a:rPr>
              <a:t>•  The 6-week test window (Aug–Sep) is the flattest part of the year, so this pattern can't be validated on the current holdout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Rossmann Sales Forecasting  |  NextHikes IT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78D6"/>
                </a:solidFill>
                <a:latin typeface="Segoe U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Yes — proceed to modelling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Rossmann Sales Forecasting  |  NextHikes IT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graphicFrame>
        <p:nvGraphicFramePr>
          <p:cNvPr id="8" name="TextBox 3">
            <a:extLst>
              <a:ext uri="{FF2B5EF4-FFF2-40B4-BE49-F238E27FC236}">
                <a16:creationId xmlns:a16="http://schemas.microsoft.com/office/drawing/2014/main" id="{B9C2546B-6C58-386B-FE26-F7E0AC907680}"/>
              </a:ext>
            </a:extLst>
          </p:cNvPr>
          <p:cNvGraphicFramePr/>
          <p:nvPr/>
        </p:nvGraphicFramePr>
        <p:xfrm>
          <a:off x="548640" y="1737360"/>
          <a:ext cx="10972800" cy="4206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482</Words>
  <Application>Microsoft Office PowerPoint</Application>
  <PresentationFormat>Widescreen</PresentationFormat>
  <Paragraphs>43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Shelly Parihar</cp:lastModifiedBy>
  <cp:revision>2</cp:revision>
  <dcterms:created xsi:type="dcterms:W3CDTF">2013-01-27T09:14:16Z</dcterms:created>
  <dcterms:modified xsi:type="dcterms:W3CDTF">2026-09-13T04:15:34Z</dcterms:modified>
  <cp:category/>
</cp:coreProperties>
</file>