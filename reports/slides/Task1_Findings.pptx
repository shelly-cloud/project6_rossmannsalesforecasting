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0B0B"/>
                </a:solidFill>
                <a:latin typeface="Segoe UI"/>
              </a:rPr>
              <a:t>Rossmann Sales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2514E"/>
                </a:solidFill>
                <a:latin typeface="Segoe UI"/>
              </a:rPr>
              <a:t>First-Pass Findings from Exploratory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98781"/>
                </a:solidFill>
                <a:latin typeface="Segoe UI"/>
              </a:rPr>
              <a:t>NextHikes IT Solutions  •  Prepared for the Rossmann Pharmaceuticals finance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Rossmann Sales Forecasting  |  NextHikes IT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Segoe UI"/>
              </a:rPr>
              <a:t>THE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Forecast daily sales, 6 weeks ahead, for every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B0B0B"/>
                </a:solidFill>
                <a:latin typeface="Segoe UI"/>
              </a:rPr>
              <a:t>•  1,017,209 daily records across 1,115 stores, Jan 2013 – Jul 2015; test window is exactly the brief's 48-day forecast horizon.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B0B0B"/>
                </a:solidFill>
                <a:latin typeface="Segoe UI"/>
              </a:rPr>
              <a:t>•  Promotions, competition, school/state holidays, seasonality and locality flagged by the data team as the key drivers.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B0B0B"/>
                </a:solidFill>
                <a:latin typeface="Segoe UI"/>
              </a:rPr>
              <a:t>•  This deck answers one question before deeper modelling: is further investigation worth it? Short answer: yes — several store-level and promo-targeting patterns are immediately actionable.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78D6"/>
                </a:solidFill>
                <a:latin typeface="Segoe UI"/>
              </a:rPr>
              <a:t>844,338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331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98781"/>
                </a:solidFill>
                <a:latin typeface="Segoe UI"/>
              </a:rPr>
              <a:t>trading-day rows after removing</a:t>
            </a:r>
          </a:p>
          <a:p>
            <a:pPr algn="l"/>
            <a:r>
              <a:rPr sz="1200" b="0">
                <a:solidFill>
                  <a:srgbClr val="898781"/>
                </a:solidFill>
                <a:latin typeface="Segoe UI"/>
              </a:rPr>
              <a:t>closed stores (17% of raw data)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3291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78D6"/>
                </a:solidFill>
                <a:latin typeface="Segoe UI"/>
              </a:rPr>
              <a:t>60.2%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886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98781"/>
                </a:solidFill>
                <a:latin typeface="Segoe UI"/>
              </a:rPr>
              <a:t>of total sales variance is</a:t>
            </a:r>
          </a:p>
          <a:p>
            <a:pPr algn="l"/>
            <a:r>
              <a:rPr sz="1200" b="0">
                <a:solidFill>
                  <a:srgbClr val="898781"/>
                </a:solidFill>
                <a:latin typeface="Segoe UI"/>
              </a:rPr>
              <a:t>store identity alone, not calendar/promo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46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78D6"/>
                </a:solidFill>
                <a:latin typeface="Segoe UI"/>
              </a:rPr>
              <a:t>6x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5440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98781"/>
                </a:solidFill>
                <a:latin typeface="Segoe UI"/>
              </a:rPr>
              <a:t>spread in average daily sales</a:t>
            </a:r>
          </a:p>
          <a:p>
            <a:pPr algn="l"/>
            <a:r>
              <a:rPr sz="1200" b="0">
                <a:solidFill>
                  <a:srgbClr val="898781"/>
                </a:solidFill>
                <a:latin typeface="Segoe UI"/>
              </a:rPr>
              <a:t>between the smallest and largest stores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Rossmann Sales Forecasting  |  NextHikes IT Solutions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Segoe UI"/>
              </a:rPr>
              <a:t>FINDING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0B0B"/>
                </a:solidFill>
                <a:latin typeface="Segoe UI"/>
              </a:rPr>
              <a:t>Promos work — through both more customers and bigger baskets</a:t>
            </a:r>
          </a:p>
        </p:txBody>
      </p:sp>
      <p:pic>
        <p:nvPicPr>
          <p:cNvPr id="4" name="Picture 3" descr="q5_promo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0972800" cy="31743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749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+38.8% sales on promo weekdays vs non-promo weekdays — split roughly evenly between +19.8% more footfall and +15.3% bigger baskets.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But response is highly uneven: the top quartile of stores captures 38% of all incremental promo revenue, the bottom quartile just 14%.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Recommendation: concentrate promo spend on the top responders; treat this as observational, not causal — a holdout trial would confirm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Rossmann Sales Forecasting  |  NextHikes IT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Segoe UI"/>
              </a:rPr>
              <a:t>FINDING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0B0B"/>
                </a:solidFill>
                <a:latin typeface="Segoe UI"/>
              </a:rPr>
              <a:t>December is the dominant seasonal signal — but the peak isn't Christmas Eve</a:t>
            </a:r>
          </a:p>
        </p:txBody>
      </p:sp>
      <p:pic>
        <p:nvPicPr>
          <p:cNvPr id="4" name="Picture 3" descr="q3_seaso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0972800" cy="30234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749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December trades at 1.24x the annual average — the largest seasonal effect in the data.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The true peak lands in the third week of Advent, not on the 24th — Christmas Eve itself is a below-average half-trading day.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The 6-week test window (Aug–Sep) is the flattest part of the year, so this pattern can't be validated on the current holdout split.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Rossmann Sales Forecasting  |  NextHikes IT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Segoe UI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Segoe UI"/>
              </a:rPr>
              <a:t>Yes — proceed to 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0B0B"/>
                </a:solidFill>
                <a:latin typeface="Segoe UI"/>
              </a:rPr>
              <a:t>•  Store identity and calendar structure (day-of-week, month-phase, holiday proximity) dominate over attributes assumed to matter most, like competitor distance — which mostly proxies urban density (Q10).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0B0B"/>
                </a:solidFill>
                <a:latin typeface="Segoe UI"/>
              </a:rPr>
              <a:t>•  RMSPE is the right loss: store size varies 6x, so a scale-sensitive metric like RMSE would silently ignore small stores.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0B0B"/>
                </a:solidFill>
                <a:latin typeface="Segoe UI"/>
              </a:rPr>
              <a:t>•  Next steps: Random Forest + LightGBM comparison behind one sklearn pipeline, an LSTM time-series forecaster, MLflow tracking, and a Flask dashboard for the finance team.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0B0B"/>
                </a:solidFill>
                <a:latin typeface="Segoe UI"/>
              </a:rPr>
              <a:t>•  Actionable now, independent of the model: retarget Promo spend toward top-quartile-responding stores.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Rossmann Sales Forecasting  |  NextHikes IT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